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753100" cy="3238500"/>
  <p:notesSz cx="5753100" cy="3238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39B59-104F-4D20-825E-847849067143}" v="167" dt="2026-10-14T16:21:13.93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1482" y="1003935"/>
            <a:ext cx="4890135" cy="68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2965" y="1813560"/>
            <a:ext cx="4027170" cy="809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62D3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 dirty="0"/>
              <a:t> </a:t>
            </a:r>
            <a:r>
              <a:rPr lang="en-US" spc="-35" dirty="0"/>
              <a:t>5,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r>
              <a:rPr lang="en-US" sz="1400" spc="-50" dirty="0">
                <a:latin typeface="Arial"/>
                <a:cs typeface="Arial"/>
              </a:rPr>
              <a:t>·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62D3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 dirty="0"/>
              <a:t> </a:t>
            </a:r>
            <a:r>
              <a:rPr lang="en-US" spc="-35" dirty="0"/>
              <a:t>5,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r>
              <a:rPr lang="en-US" sz="1400" spc="-50" dirty="0">
                <a:latin typeface="Arial"/>
                <a:cs typeface="Arial"/>
              </a:rPr>
              <a:t>·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7655" y="744855"/>
            <a:ext cx="2502598" cy="213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2846" y="744855"/>
            <a:ext cx="2502598" cy="213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 dirty="0"/>
              <a:t> </a:t>
            </a:r>
            <a:r>
              <a:rPr lang="en-US" spc="-35" dirty="0"/>
              <a:t>5,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r>
              <a:rPr lang="en-US" sz="1400" spc="-50" dirty="0">
                <a:latin typeface="Arial"/>
                <a:cs typeface="Arial"/>
              </a:rPr>
              <a:t>·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 dirty="0"/>
              <a:t> </a:t>
            </a:r>
            <a:r>
              <a:rPr lang="en-US" spc="-35" dirty="0"/>
              <a:t>5,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r>
              <a:rPr lang="en-US" sz="1400" spc="-50" dirty="0">
                <a:latin typeface="Arial"/>
                <a:cs typeface="Arial"/>
              </a:rPr>
              <a:t>·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 dirty="0"/>
              <a:t> </a:t>
            </a:r>
            <a:r>
              <a:rPr lang="en-US" spc="-35" dirty="0"/>
              <a:t>5,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r>
              <a:rPr lang="en-US" sz="1400" spc="-50" dirty="0">
                <a:latin typeface="Arial"/>
                <a:cs typeface="Arial"/>
              </a:rPr>
              <a:t>·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292" y="131245"/>
            <a:ext cx="5048885" cy="62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516" y="555180"/>
            <a:ext cx="5054600" cy="812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62D3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66199" y="3106721"/>
            <a:ext cx="527685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 dirty="0"/>
              <a:t> </a:t>
            </a:r>
            <a:r>
              <a:rPr lang="en-US" spc="-35" dirty="0"/>
              <a:t>5,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r>
              <a:rPr lang="en-US" sz="1400" spc="-50" dirty="0">
                <a:latin typeface="Arial"/>
                <a:cs typeface="Arial"/>
              </a:rPr>
              <a:t>·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7655" y="3011805"/>
            <a:ext cx="1323213" cy="16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34980" y="3106721"/>
            <a:ext cx="226060" cy="100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0000DC"/>
                </a:solidFill>
                <a:latin typeface="Tahoma"/>
                <a:cs typeface="Tahoma"/>
              </a:defRPr>
            </a:lvl1pPr>
          </a:lstStyle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ttack.mitre.org/techniques/T1471/" TargetMode="Externa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hyperlink" Target="https://doi.org/10.32604/cmc.2025.066198" TargetMode="External"/><Relationship Id="rId4" Type="http://schemas.openxmlformats.org/officeDocument/2006/relationships/hyperlink" Target="https://doi.org/10.1016/j.cose.2024.103819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93" y="252003"/>
            <a:ext cx="508253" cy="50396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2" y="1212867"/>
            <a:ext cx="4060190" cy="6197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000" spc="-40" dirty="0"/>
              <a:t>A3-</a:t>
            </a:r>
            <a:r>
              <a:rPr sz="2000" spc="-65" dirty="0"/>
              <a:t>PS001-</a:t>
            </a:r>
            <a:r>
              <a:rPr sz="2000" spc="-10" dirty="0"/>
              <a:t>TC001</a:t>
            </a:r>
            <a:endParaRPr sz="2000"/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Android</a:t>
            </a:r>
            <a:r>
              <a:rPr sz="1100"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25" dirty="0">
                <a:solidFill>
                  <a:srgbClr val="000000"/>
                </a:solidFill>
                <a:latin typeface="Tahoma"/>
                <a:cs typeface="Tahoma"/>
              </a:rPr>
              <a:t>Ransomware-</a:t>
            </a:r>
            <a:r>
              <a:rPr sz="1100" b="0" spc="-20" dirty="0">
                <a:solidFill>
                  <a:srgbClr val="000000"/>
                </a:solidFill>
                <a:latin typeface="Tahoma"/>
                <a:cs typeface="Tahoma"/>
              </a:rPr>
              <a:t>like</a:t>
            </a:r>
            <a:r>
              <a:rPr sz="1100" b="0" spc="-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Activity</a:t>
            </a:r>
            <a:r>
              <a:rPr sz="1100" b="0" spc="-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Early</a:t>
            </a:r>
            <a:r>
              <a:rPr sz="1100" b="0" spc="-8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30" dirty="0">
                <a:solidFill>
                  <a:srgbClr val="000000"/>
                </a:solidFill>
                <a:latin typeface="Tahoma"/>
                <a:cs typeface="Tahoma"/>
              </a:rPr>
              <a:t>Warning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dirty="0">
                <a:solidFill>
                  <a:srgbClr val="000000"/>
                </a:solidFill>
                <a:latin typeface="Tahoma"/>
                <a:cs typeface="Tahoma"/>
              </a:rPr>
              <a:t>in</a:t>
            </a:r>
            <a:r>
              <a:rPr sz="1100"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40" dirty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r>
              <a:rPr sz="1100" b="0" spc="-10" dirty="0">
                <a:solidFill>
                  <a:srgbClr val="000000"/>
                </a:solidFill>
                <a:latin typeface="Tahoma"/>
                <a:cs typeface="Tahoma"/>
              </a:rPr>
              <a:t> Controlled</a:t>
            </a:r>
            <a:r>
              <a:rPr sz="1100"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b="0" spc="-25" dirty="0">
                <a:solidFill>
                  <a:srgbClr val="000000"/>
                </a:solidFill>
                <a:latin typeface="Tahoma"/>
                <a:cs typeface="Tahoma"/>
              </a:rPr>
              <a:t>Lab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5465" y="2134742"/>
            <a:ext cx="2029869" cy="98334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100"/>
              </a:spcBef>
            </a:pPr>
            <a:r>
              <a:rPr sz="900" b="1" spc="-80">
                <a:latin typeface="Trebuchet MS"/>
                <a:cs typeface="Trebuchet MS"/>
              </a:rPr>
              <a:t>Team</a:t>
            </a:r>
            <a:r>
              <a:rPr sz="900" b="1" spc="-35">
                <a:latin typeface="Trebuchet MS"/>
                <a:cs typeface="Trebuchet MS"/>
              </a:rPr>
              <a:t> </a:t>
            </a:r>
            <a:r>
              <a:rPr sz="900" b="1" spc="-50">
                <a:latin typeface="Trebuchet MS"/>
                <a:cs typeface="Trebuchet MS"/>
              </a:rPr>
              <a:t>name</a:t>
            </a:r>
            <a:r>
              <a:rPr sz="900" b="1" spc="-35">
                <a:latin typeface="Trebuchet MS"/>
                <a:cs typeface="Trebuchet MS"/>
              </a:rPr>
              <a:t> </a:t>
            </a:r>
            <a:r>
              <a:rPr sz="900" b="1" spc="-90">
                <a:latin typeface="Trebuchet MS"/>
                <a:cs typeface="Trebuchet MS"/>
              </a:rPr>
              <a:t>:</a:t>
            </a:r>
            <a:r>
              <a:rPr sz="900" b="1" spc="-35">
                <a:latin typeface="Trebuchet MS"/>
                <a:cs typeface="Trebuchet MS"/>
              </a:rPr>
              <a:t> </a:t>
            </a:r>
            <a:r>
              <a:rPr sz="900" b="1" spc="-25">
                <a:latin typeface="Trebuchet MS"/>
                <a:cs typeface="Trebuchet MS"/>
              </a:rPr>
              <a:t>ShieldX</a:t>
            </a:r>
            <a:endParaRPr lang="en-US" sz="900">
              <a:latin typeface="Trebuchet MS"/>
              <a:cs typeface="Trebuchet MS"/>
            </a:endParaRPr>
          </a:p>
          <a:p>
            <a:pPr marL="12700" marR="5080">
              <a:lnSpc>
                <a:spcPct val="120400"/>
              </a:lnSpc>
              <a:spcBef>
                <a:spcPts val="100"/>
              </a:spcBef>
            </a:pPr>
            <a:r>
              <a:rPr lang="en-US" sz="900" b="1" spc="-25">
                <a:latin typeface="Trebuchet MS"/>
                <a:cs typeface="Trebuchet MS"/>
              </a:rPr>
              <a:t>mrithanya6@gmail.com</a:t>
            </a:r>
            <a:endParaRPr lang="en-US" sz="900" b="1" spc="-25" dirty="0">
              <a:latin typeface="Trebuchet MS"/>
              <a:cs typeface="Trebuchet MS"/>
            </a:endParaRPr>
          </a:p>
          <a:p>
            <a:pPr marL="12700" marR="5080">
              <a:lnSpc>
                <a:spcPct val="120400"/>
              </a:lnSpc>
              <a:spcBef>
                <a:spcPts val="100"/>
              </a:spcBef>
            </a:pPr>
            <a:r>
              <a:rPr sz="900" b="1" spc="-10">
                <a:latin typeface="Trebuchet MS"/>
                <a:cs typeface="Trebuchet MS"/>
              </a:rPr>
              <a:t>Rithanya.M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b="1" spc="-10" dirty="0" err="1">
                <a:latin typeface="Trebuchet MS"/>
                <a:cs typeface="Trebuchet MS"/>
              </a:rPr>
              <a:t>Rithika.R</a:t>
            </a:r>
            <a:endParaRPr sz="900" err="1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700" spc="-40" dirty="0">
                <a:latin typeface="Tahoma"/>
                <a:cs typeface="Tahoma"/>
              </a:rPr>
              <a:t>AIORI</a:t>
            </a:r>
            <a:r>
              <a:rPr sz="700" spc="-3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Hackathon</a:t>
            </a:r>
            <a:r>
              <a:rPr sz="700" spc="-35" dirty="0">
                <a:latin typeface="Tahoma"/>
                <a:cs typeface="Tahoma"/>
              </a:rPr>
              <a:t> </a:t>
            </a:r>
            <a:r>
              <a:rPr sz="700" spc="-50" dirty="0">
                <a:latin typeface="Tahoma"/>
                <a:cs typeface="Tahoma"/>
              </a:rPr>
              <a:t>3</a:t>
            </a:r>
            <a:endParaRPr sz="700">
              <a:latin typeface="Tahoma"/>
              <a:cs typeface="Tahoma"/>
            </a:endParaRPr>
          </a:p>
          <a:p>
            <a:pPr marL="12700">
              <a:spcBef>
                <a:spcPts val="219"/>
              </a:spcBef>
            </a:pPr>
            <a:r>
              <a:rPr sz="800" spc="-20" dirty="0">
                <a:latin typeface="Tahoma"/>
                <a:cs typeface="Tahoma"/>
              </a:rPr>
              <a:t>October</a:t>
            </a:r>
            <a:r>
              <a:rPr lang="en-US" sz="800" spc="-10">
                <a:latin typeface="Tahoma"/>
                <a:cs typeface="Tahoma"/>
              </a:rPr>
              <a:t> 14</a:t>
            </a:r>
            <a:r>
              <a:rPr sz="800" spc="-50" dirty="0">
                <a:latin typeface="Tahoma"/>
                <a:cs typeface="Tahoma"/>
              </a:rPr>
              <a:t>,</a:t>
            </a:r>
            <a:r>
              <a:rPr sz="800" spc="-8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2026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26559"/>
            <a:ext cx="23241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AIOR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I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3" y="26559"/>
            <a:ext cx="24892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Abstract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88141"/>
            <a:ext cx="15722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0000DC"/>
                </a:solidFill>
                <a:latin typeface="Trebuchet MS"/>
                <a:cs typeface="Trebuchet MS"/>
              </a:rPr>
              <a:t>Problem</a:t>
            </a:r>
            <a:r>
              <a:rPr sz="1400" b="1" spc="-65" dirty="0">
                <a:solidFill>
                  <a:srgbClr val="0000DC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0000DC"/>
                </a:solidFill>
                <a:latin typeface="Trebuchet MS"/>
                <a:cs typeface="Trebuchet MS"/>
              </a:rPr>
              <a:t>Description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80" y="961066"/>
            <a:ext cx="5226050" cy="12547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37160" indent="113664">
              <a:lnSpc>
                <a:spcPct val="101899"/>
              </a:lnSpc>
              <a:spcBef>
                <a:spcPts val="80"/>
              </a:spcBef>
              <a:buChar char="•"/>
              <a:tabLst>
                <a:tab pos="126364" algn="l"/>
              </a:tabLst>
            </a:pP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Problem: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ransomware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can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rapidly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encrypt,</a:t>
            </a:r>
            <a:r>
              <a:rPr sz="900" spc="-10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rewrite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or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rename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user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files,</a:t>
            </a:r>
            <a:r>
              <a:rPr sz="900" spc="-10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making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photos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documents inaccessible.</a:t>
            </a:r>
            <a:endParaRPr sz="900">
              <a:latin typeface="Tahoma"/>
              <a:cs typeface="Tahoma"/>
            </a:endParaRPr>
          </a:p>
          <a:p>
            <a:pPr marL="12700" marR="5080" indent="113664">
              <a:lnSpc>
                <a:spcPct val="101899"/>
              </a:lnSpc>
              <a:spcBef>
                <a:spcPts val="295"/>
              </a:spcBef>
              <a:buChar char="•"/>
              <a:tabLst>
                <a:tab pos="126364" algn="l"/>
              </a:tabLst>
            </a:pP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Known-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signature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detection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may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miss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unfamiliar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or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modified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threats;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users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may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notice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only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after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files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are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damaged.</a:t>
            </a:r>
            <a:endParaRPr sz="900">
              <a:latin typeface="Tahoma"/>
              <a:cs typeface="Tahoma"/>
            </a:endParaRPr>
          </a:p>
          <a:p>
            <a:pPr marL="12700" marR="151765" indent="113664">
              <a:lnSpc>
                <a:spcPct val="101899"/>
              </a:lnSpc>
              <a:spcBef>
                <a:spcPts val="300"/>
              </a:spcBef>
              <a:buChar char="•"/>
              <a:tabLst>
                <a:tab pos="126364" algn="l"/>
              </a:tabLst>
            </a:pP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PS-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001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monitors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accessible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file-operation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signals,</a:t>
            </a:r>
            <a:r>
              <a:rPr sz="900" spc="-10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scores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suspicious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combinations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explains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why</a:t>
            </a:r>
            <a:r>
              <a:rPr sz="900" spc="-5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62D36"/>
                </a:solidFill>
                <a:latin typeface="Tahoma"/>
                <a:cs typeface="Tahoma"/>
              </a:rPr>
              <a:t>a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warning</a:t>
            </a:r>
            <a:r>
              <a:rPr sz="9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was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triggered.</a:t>
            </a:r>
            <a:endParaRPr sz="900">
              <a:latin typeface="Tahoma"/>
              <a:cs typeface="Tahoma"/>
            </a:endParaRPr>
          </a:p>
          <a:p>
            <a:pPr marL="12700" marR="133350" indent="113664">
              <a:lnSpc>
                <a:spcPct val="101899"/>
              </a:lnSpc>
              <a:spcBef>
                <a:spcPts val="300"/>
              </a:spcBef>
              <a:buChar char="•"/>
              <a:tabLst>
                <a:tab pos="126364" algn="l"/>
              </a:tabLst>
            </a:pP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Goal: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demonstrate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early</a:t>
            </a:r>
            <a:r>
              <a:rPr sz="900" spc="-5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warning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in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a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controlled</a:t>
            </a:r>
            <a:r>
              <a:rPr sz="900" spc="-5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Android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environment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while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measuring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detection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rate,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false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alarms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alert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latency.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166199" y="3106721"/>
            <a:ext cx="928920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2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26559"/>
            <a:ext cx="23241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AIOR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I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3" y="26559"/>
            <a:ext cx="34544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Background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88141"/>
            <a:ext cx="9226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5" dirty="0">
                <a:solidFill>
                  <a:srgbClr val="0000DC"/>
                </a:solidFill>
                <a:latin typeface="Trebuchet MS"/>
                <a:cs typeface="Trebuchet MS"/>
              </a:rPr>
              <a:t>Background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81" y="881475"/>
            <a:ext cx="5310505" cy="11150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200025" indent="113664">
              <a:lnSpc>
                <a:spcPct val="101899"/>
              </a:lnSpc>
              <a:spcBef>
                <a:spcPts val="80"/>
              </a:spcBef>
              <a:buChar char="•"/>
              <a:tabLst>
                <a:tab pos="126364" algn="l"/>
              </a:tabLst>
            </a:pP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Ransomware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denies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access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to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data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by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encrypting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or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transforming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files;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Android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threats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can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target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files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available</a:t>
            </a:r>
            <a:r>
              <a:rPr sz="900" spc="-5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to</a:t>
            </a:r>
            <a:r>
              <a:rPr sz="900" spc="-5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</a:t>
            </a:r>
            <a:r>
              <a:rPr sz="900" spc="-5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app.</a:t>
            </a:r>
            <a:endParaRPr sz="900">
              <a:latin typeface="Tahoma"/>
              <a:cs typeface="Tahoma"/>
            </a:endParaRPr>
          </a:p>
          <a:p>
            <a:pPr marL="12700" marR="18415" indent="113664">
              <a:lnSpc>
                <a:spcPct val="101899"/>
              </a:lnSpc>
              <a:spcBef>
                <a:spcPts val="295"/>
              </a:spcBef>
              <a:buChar char="•"/>
              <a:tabLst>
                <a:tab pos="126364" algn="l"/>
              </a:tabLst>
            </a:pP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Useful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behavioural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signals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include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bursts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 of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file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writes,</a:t>
            </a:r>
            <a:r>
              <a:rPr sz="900" spc="-9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repeated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renaming,</a:t>
            </a:r>
            <a:r>
              <a:rPr sz="900" spc="-9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unusual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file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creation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rapid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changes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across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many</a:t>
            </a:r>
            <a:r>
              <a:rPr sz="9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files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62D36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  <a:p>
            <a:pPr marL="122555" indent="-109855">
              <a:lnSpc>
                <a:spcPct val="100000"/>
              </a:lnSpc>
              <a:spcBef>
                <a:spcPts val="320"/>
              </a:spcBef>
              <a:buChar char="•"/>
              <a:tabLst>
                <a:tab pos="122555" algn="l"/>
              </a:tabLst>
            </a:pP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A</a:t>
            </a:r>
            <a:r>
              <a:rPr sz="900" spc="-6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single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signal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is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not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proof: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backup,</a:t>
            </a:r>
            <a:r>
              <a:rPr sz="900" spc="-10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5" dirty="0">
                <a:solidFill>
                  <a:srgbClr val="262D36"/>
                </a:solidFill>
                <a:latin typeface="Tahoma"/>
                <a:cs typeface="Tahoma"/>
              </a:rPr>
              <a:t>sync,</a:t>
            </a:r>
            <a:r>
              <a:rPr sz="900" spc="-10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gallery</a:t>
            </a:r>
            <a:r>
              <a:rPr sz="900" spc="-5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document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apps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can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also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perform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bulk</a:t>
            </a:r>
            <a:r>
              <a:rPr sz="900" spc="-5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file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operations.</a:t>
            </a:r>
            <a:endParaRPr sz="900">
              <a:latin typeface="Tahoma"/>
              <a:cs typeface="Tahoma"/>
            </a:endParaRPr>
          </a:p>
          <a:p>
            <a:pPr marL="12700" marR="231775" indent="109855">
              <a:lnSpc>
                <a:spcPct val="101899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Android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app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sandboxing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scoped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storage</a:t>
            </a:r>
            <a:r>
              <a:rPr sz="900" spc="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limit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cross-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app</a:t>
            </a:r>
            <a:r>
              <a:rPr sz="9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visibility.</a:t>
            </a:r>
            <a:r>
              <a:rPr sz="900" spc="-1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The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prototype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will</a:t>
            </a:r>
            <a:r>
              <a:rPr sz="9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monitor</a:t>
            </a:r>
            <a:r>
              <a:rPr sz="900" spc="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only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signals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available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to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its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chosen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test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setup.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153854" y="3106721"/>
            <a:ext cx="743734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3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26559"/>
            <a:ext cx="23241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AIOR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I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3" y="26559"/>
            <a:ext cx="68961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Literatur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e</a:t>
            </a:r>
            <a:r>
              <a:rPr sz="5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&amp;</a:t>
            </a:r>
            <a:r>
              <a:rPr sz="5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RF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C</a:t>
            </a:r>
            <a:r>
              <a:rPr sz="5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Review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88141"/>
            <a:ext cx="1883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80" dirty="0">
                <a:solidFill>
                  <a:srgbClr val="0000DC"/>
                </a:solidFill>
                <a:latin typeface="Trebuchet MS"/>
                <a:cs typeface="Trebuchet MS"/>
              </a:rPr>
              <a:t>Literature</a:t>
            </a:r>
            <a:r>
              <a:rPr sz="1400" b="1" spc="-50" dirty="0">
                <a:solidFill>
                  <a:srgbClr val="0000DC"/>
                </a:solidFill>
                <a:latin typeface="Trebuchet MS"/>
                <a:cs typeface="Trebuchet MS"/>
              </a:rPr>
              <a:t> </a:t>
            </a:r>
            <a:r>
              <a:rPr sz="1400" b="1" spc="145" dirty="0">
                <a:solidFill>
                  <a:srgbClr val="0000DC"/>
                </a:solidFill>
                <a:latin typeface="Trebuchet MS"/>
                <a:cs typeface="Trebuchet MS"/>
              </a:rPr>
              <a:t>&amp;</a:t>
            </a:r>
            <a:r>
              <a:rPr sz="1400" b="1" spc="-45" dirty="0">
                <a:solidFill>
                  <a:srgbClr val="0000DC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00DC"/>
                </a:solidFill>
                <a:latin typeface="Trebuchet MS"/>
                <a:cs typeface="Trebuchet MS"/>
              </a:rPr>
              <a:t>RFC</a:t>
            </a:r>
            <a:r>
              <a:rPr sz="1400" b="1" spc="-105" dirty="0">
                <a:solidFill>
                  <a:srgbClr val="0000DC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00DC"/>
                </a:solidFill>
                <a:latin typeface="Trebuchet MS"/>
                <a:cs typeface="Trebuchet MS"/>
              </a:rPr>
              <a:t>Review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81" y="1002504"/>
            <a:ext cx="5192395" cy="10236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2710" marR="5080" indent="-80645">
              <a:lnSpc>
                <a:spcPct val="104200"/>
              </a:lnSpc>
              <a:spcBef>
                <a:spcPts val="60"/>
              </a:spcBef>
              <a:buChar char="•"/>
              <a:tabLst>
                <a:tab pos="92710" algn="l"/>
              </a:tabLst>
            </a:pPr>
            <a:r>
              <a:rPr lang="en-US" sz="800" spc="-30" dirty="0">
                <a:solidFill>
                  <a:srgbClr val="262D36"/>
                </a:solidFill>
                <a:latin typeface="Tahoma"/>
                <a:cs typeface="Tahoma"/>
              </a:rPr>
              <a:t>MITRE</a:t>
            </a:r>
            <a:r>
              <a:rPr lang="en-US" sz="800" spc="-5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ATT&amp;CK</a:t>
            </a:r>
            <a:r>
              <a:rPr lang="en-US" sz="8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Mobile</a:t>
            </a:r>
            <a:r>
              <a:rPr lang="en-US" sz="8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T1471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documents data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encryption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for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impact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on</a:t>
            </a:r>
            <a:r>
              <a:rPr lang="en-US" sz="8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Android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and describes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abnormal burst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reads/ writes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large-scale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file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transformation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35" dirty="0">
                <a:solidFill>
                  <a:srgbClr val="262D36"/>
                </a:solidFill>
                <a:latin typeface="Tahoma"/>
                <a:cs typeface="Tahoma"/>
              </a:rPr>
              <a:t>as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detection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clues.</a:t>
            </a:r>
            <a:endParaRPr lang="en-US" sz="800">
              <a:latin typeface="Tahoma"/>
              <a:cs typeface="Tahoma"/>
            </a:endParaRPr>
          </a:p>
          <a:p>
            <a:pPr marL="92710" marR="241935" indent="-80645">
              <a:lnSpc>
                <a:spcPct val="104200"/>
              </a:lnSpc>
              <a:spcBef>
                <a:spcPts val="300"/>
              </a:spcBef>
              <a:buChar char="•"/>
              <a:tabLst>
                <a:tab pos="92710" algn="l"/>
              </a:tabLst>
            </a:pP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Singh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110" dirty="0">
                <a:solidFill>
                  <a:srgbClr val="262D36"/>
                </a:solidFill>
                <a:latin typeface="Tahoma"/>
                <a:cs typeface="Tahoma"/>
              </a:rPr>
              <a:t>&amp;</a:t>
            </a:r>
            <a:r>
              <a:rPr lang="en-US" sz="8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30" dirty="0">
                <a:solidFill>
                  <a:srgbClr val="262D36"/>
                </a:solidFill>
                <a:latin typeface="Tahoma"/>
                <a:cs typeface="Tahoma"/>
              </a:rPr>
              <a:t>Tripathy</a:t>
            </a:r>
            <a:r>
              <a:rPr lang="en-US" sz="8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50" dirty="0">
                <a:solidFill>
                  <a:srgbClr val="262D36"/>
                </a:solidFill>
                <a:latin typeface="Tahoma"/>
                <a:cs typeface="Tahoma"/>
              </a:rPr>
              <a:t>(2024),</a:t>
            </a:r>
            <a:r>
              <a:rPr lang="en-US" sz="800" spc="-1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45" dirty="0">
                <a:solidFill>
                  <a:srgbClr val="262D36"/>
                </a:solidFill>
                <a:latin typeface="Tahoma"/>
                <a:cs typeface="Tahoma"/>
              </a:rPr>
              <a:t>“It’s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too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late if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exfiltrate: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Early</a:t>
            </a:r>
            <a:r>
              <a:rPr lang="en-US" sz="8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stage</a:t>
            </a:r>
            <a:r>
              <a:rPr lang="en-US" sz="8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Android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ransomware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35" dirty="0">
                <a:solidFill>
                  <a:srgbClr val="262D36"/>
                </a:solidFill>
                <a:latin typeface="Tahoma"/>
                <a:cs typeface="Tahoma"/>
              </a:rPr>
              <a:t>detection,”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studies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early-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stage detection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using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behavioural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and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app-level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features.</a:t>
            </a:r>
            <a:endParaRPr lang="en-US" sz="8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spcBef>
                <a:spcPts val="340"/>
              </a:spcBef>
              <a:buChar char="•"/>
              <a:tabLst>
                <a:tab pos="92710" algn="l"/>
              </a:tabLst>
            </a:pP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</a:t>
            </a:r>
            <a:r>
              <a:rPr lang="en-US" sz="8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2025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study</a:t>
            </a:r>
            <a:r>
              <a:rPr lang="en-US" sz="800" spc="-5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explores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lightweight</a:t>
            </a:r>
            <a:r>
              <a:rPr lang="en-US" sz="800" spc="-5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Android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ransomware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detection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using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behavioural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analysis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and feature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reduction.</a:t>
            </a:r>
            <a:endParaRPr lang="en-US" sz="800">
              <a:latin typeface="Tahoma"/>
              <a:cs typeface="Tahoma"/>
            </a:endParaRPr>
          </a:p>
          <a:p>
            <a:pPr marL="92710" marR="317500" indent="-80645">
              <a:lnSpc>
                <a:spcPct val="104200"/>
              </a:lnSpc>
              <a:spcBef>
                <a:spcPts val="300"/>
              </a:spcBef>
              <a:buChar char="•"/>
              <a:tabLst>
                <a:tab pos="92710" algn="l"/>
              </a:tabLst>
            </a:pP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Design implication: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combine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multiple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signals,</a:t>
            </a:r>
            <a:r>
              <a:rPr lang="en-US" sz="800" spc="-7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keep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the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score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explainable,</a:t>
            </a:r>
            <a:r>
              <a:rPr lang="en-US" sz="800" spc="-7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evaluate</a:t>
            </a:r>
            <a:r>
              <a:rPr lang="en-US" sz="800" spc="-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false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positives.</a:t>
            </a:r>
            <a:r>
              <a:rPr lang="en-US" sz="800" spc="-10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Android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storage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restrictions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must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shape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the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implementation.</a:t>
            </a:r>
            <a:endParaRPr lang="en-US"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178544" y="3106721"/>
            <a:ext cx="891884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4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26559"/>
            <a:ext cx="23241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AIOR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I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3" y="26559"/>
            <a:ext cx="52070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Propose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d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Solution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88141"/>
            <a:ext cx="14179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5" dirty="0">
                <a:solidFill>
                  <a:srgbClr val="0000DC"/>
                </a:solidFill>
                <a:latin typeface="Trebuchet MS"/>
                <a:cs typeface="Trebuchet MS"/>
              </a:rPr>
              <a:t>Proposed</a:t>
            </a:r>
            <a:r>
              <a:rPr sz="1400" b="1" spc="-40" dirty="0">
                <a:solidFill>
                  <a:srgbClr val="0000DC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0000DC"/>
                </a:solidFill>
                <a:latin typeface="Trebuchet MS"/>
                <a:cs typeface="Trebuchet MS"/>
              </a:rPr>
              <a:t>Solution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80" y="881609"/>
            <a:ext cx="5033645" cy="11938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1285" indent="-109855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121285" algn="l"/>
              </a:tabLst>
            </a:pP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Observe: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collect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permitted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file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events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in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a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controlled</a:t>
            </a:r>
            <a:r>
              <a:rPr sz="9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Android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test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setup.</a:t>
            </a:r>
            <a:endParaRPr sz="900">
              <a:latin typeface="Tahoma"/>
              <a:cs typeface="Tahoma"/>
            </a:endParaRPr>
          </a:p>
          <a:p>
            <a:pPr marL="12700" marR="5080" indent="-1270">
              <a:lnSpc>
                <a:spcPct val="101899"/>
              </a:lnSpc>
              <a:spcBef>
                <a:spcPts val="300"/>
              </a:spcBef>
              <a:buAutoNum type="arabicPeriod"/>
              <a:tabLst>
                <a:tab pos="121285" algn="l"/>
              </a:tabLst>
            </a:pP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	Extract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features: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count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creates,</a:t>
            </a:r>
            <a:r>
              <a:rPr sz="900" spc="-9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writes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renames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in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a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rolling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time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window;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measure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operation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rate and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distinct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files</a:t>
            </a:r>
            <a:r>
              <a:rPr sz="9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affected.</a:t>
            </a:r>
            <a:endParaRPr sz="900">
              <a:latin typeface="Tahoma"/>
              <a:cs typeface="Tahoma"/>
            </a:endParaRPr>
          </a:p>
          <a:p>
            <a:pPr marL="121285" indent="-109855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121285" algn="l"/>
              </a:tabLst>
            </a:pP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Score: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apply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weighted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rules</a:t>
            </a:r>
            <a:r>
              <a:rPr sz="900" spc="-3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to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produce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a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0–100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risk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score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Low</a:t>
            </a:r>
            <a:r>
              <a:rPr sz="900" spc="-5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/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Medium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/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High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category.</a:t>
            </a:r>
            <a:endParaRPr sz="900">
              <a:latin typeface="Tahoma"/>
              <a:cs typeface="Tahoma"/>
            </a:endParaRPr>
          </a:p>
          <a:p>
            <a:pPr marL="121285" indent="-109855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121285" algn="l"/>
              </a:tabLst>
            </a:pP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Explain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114" dirty="0">
                <a:solidFill>
                  <a:srgbClr val="262D36"/>
                </a:solidFill>
                <a:latin typeface="Tahoma"/>
                <a:cs typeface="Tahoma"/>
              </a:rPr>
              <a:t>&amp;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alert: show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the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triggering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262D36"/>
                </a:solidFill>
                <a:latin typeface="Tahoma"/>
                <a:cs typeface="Tahoma"/>
              </a:rPr>
              <a:t>behaviours,</a:t>
            </a:r>
            <a:r>
              <a:rPr sz="900" spc="-10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timestamp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and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recommended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user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action.</a:t>
            </a:r>
            <a:endParaRPr sz="900">
              <a:latin typeface="Tahoma"/>
              <a:cs typeface="Tahoma"/>
            </a:endParaRPr>
          </a:p>
          <a:p>
            <a:pPr marL="12700" marR="88265" indent="-1270">
              <a:lnSpc>
                <a:spcPct val="101899"/>
              </a:lnSpc>
              <a:spcBef>
                <a:spcPts val="295"/>
              </a:spcBef>
              <a:buAutoNum type="arabicPeriod"/>
              <a:tabLst>
                <a:tab pos="121285" algn="l"/>
              </a:tabLst>
            </a:pP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	Evaluate: compare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a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normal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test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app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with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40" dirty="0">
                <a:solidFill>
                  <a:srgbClr val="262D36"/>
                </a:solidFill>
                <a:latin typeface="Tahoma"/>
                <a:cs typeface="Tahoma"/>
              </a:rPr>
              <a:t>a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safe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simulator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operating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only</a:t>
            </a:r>
            <a:r>
              <a:rPr sz="900" spc="-5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on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disposable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files.</a:t>
            </a:r>
            <a:r>
              <a:rPr sz="900" spc="-10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ML</a:t>
            </a:r>
            <a:r>
              <a:rPr sz="900" spc="-6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is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optional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after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62D36"/>
                </a:solidFill>
                <a:latin typeface="Tahoma"/>
                <a:cs typeface="Tahoma"/>
              </a:rPr>
              <a:t>the</a:t>
            </a:r>
            <a:r>
              <a:rPr sz="900" spc="-20" dirty="0">
                <a:solidFill>
                  <a:srgbClr val="262D36"/>
                </a:solidFill>
                <a:latin typeface="Tahoma"/>
                <a:cs typeface="Tahoma"/>
              </a:rPr>
              <a:t> rule-based</a:t>
            </a:r>
            <a:r>
              <a:rPr sz="9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62D36"/>
                </a:solidFill>
                <a:latin typeface="Tahoma"/>
                <a:cs typeface="Tahoma"/>
              </a:rPr>
              <a:t>baseline.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166199" y="3106721"/>
            <a:ext cx="867191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5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26559"/>
            <a:ext cx="23241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AIOR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I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3" y="26559"/>
            <a:ext cx="62230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Solutio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n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Optimization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88141"/>
            <a:ext cx="1765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0000DC"/>
                </a:solidFill>
                <a:latin typeface="Trebuchet MS"/>
                <a:cs typeface="Trebuchet MS"/>
              </a:rPr>
              <a:t>Optimization</a:t>
            </a:r>
            <a:r>
              <a:rPr sz="1400" b="1" spc="-25" dirty="0">
                <a:solidFill>
                  <a:srgbClr val="0000DC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0000DC"/>
                </a:solidFill>
                <a:latin typeface="Trebuchet MS"/>
                <a:cs typeface="Trebuchet MS"/>
              </a:rPr>
              <a:t>Proposed</a:t>
            </a:r>
            <a:endParaRPr sz="14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0825" y="1025525"/>
          <a:ext cx="5150485" cy="1105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Aspect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1F3F6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Basic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approach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1F3F69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PS-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001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optimization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1F3F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Detection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Single</a:t>
                      </a:r>
                      <a:r>
                        <a:rPr sz="800" spc="-4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event</a:t>
                      </a:r>
                      <a:r>
                        <a:rPr sz="800" spc="-3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sz="800" spc="-4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known</a:t>
                      </a:r>
                      <a:r>
                        <a:rPr sz="800" spc="-3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signature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Combine</a:t>
                      </a:r>
                      <a:r>
                        <a:rPr sz="800" spc="-1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rate,</a:t>
                      </a:r>
                      <a:r>
                        <a:rPr sz="800" spc="-8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rename</a:t>
                      </a:r>
                      <a:r>
                        <a:rPr sz="800" spc="-1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800" spc="-1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write signals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Alert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Generic</a:t>
                      </a:r>
                      <a:r>
                        <a:rPr sz="800" spc="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warning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Risk</a:t>
                      </a:r>
                      <a:r>
                        <a:rPr sz="800" spc="-4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score</a:t>
                      </a: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9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800" spc="-1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reasons</a:t>
                      </a:r>
                      <a:r>
                        <a:rPr sz="800" spc="-1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9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suggested</a:t>
                      </a:r>
                      <a:r>
                        <a:rPr sz="800" spc="-1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action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Evaluation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Unverified</a:t>
                      </a:r>
                      <a:r>
                        <a:rPr sz="800" spc="-1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claim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Measure</a:t>
                      </a:r>
                      <a:r>
                        <a:rPr sz="800" spc="-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detection,</a:t>
                      </a:r>
                      <a:r>
                        <a:rPr sz="800" spc="-7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false</a:t>
                      </a:r>
                      <a:r>
                        <a:rPr sz="800" spc="-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positives</a:t>
                      </a:r>
                      <a:r>
                        <a:rPr sz="800" spc="-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2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800" spc="-5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10" dirty="0">
                          <a:solidFill>
                            <a:srgbClr val="262D36"/>
                          </a:solidFill>
                          <a:latin typeface="Tahoma"/>
                          <a:cs typeface="Tahoma"/>
                        </a:rPr>
                        <a:t>latency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L w="6350">
                      <a:solidFill>
                        <a:srgbClr val="E4E9F0"/>
                      </a:solidFill>
                      <a:prstDash val="solid"/>
                    </a:lnL>
                    <a:lnR w="6350">
                      <a:solidFill>
                        <a:srgbClr val="E4E9F0"/>
                      </a:solidFill>
                      <a:prstDash val="solid"/>
                    </a:lnR>
                    <a:lnT w="6350">
                      <a:solidFill>
                        <a:srgbClr val="E4E9F0"/>
                      </a:solidFill>
                      <a:prstDash val="solid"/>
                    </a:lnT>
                    <a:lnB w="6350">
                      <a:solidFill>
                        <a:srgbClr val="E4E9F0"/>
                      </a:solidFill>
                      <a:prstDash val="solid"/>
                    </a:lnB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166199" y="3106721"/>
            <a:ext cx="712870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6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26559"/>
            <a:ext cx="141732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850" algn="l"/>
              </a:tabLst>
            </a:pP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AIOR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I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3</a:t>
            </a:r>
            <a:r>
              <a:rPr sz="500" dirty="0">
                <a:solidFill>
                  <a:srgbClr val="0000FF"/>
                </a:solidFill>
                <a:latin typeface="Tahoma"/>
                <a:cs typeface="Tahoma"/>
              </a:rPr>
              <a:t>	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Architectur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e</a:t>
            </a:r>
            <a:r>
              <a:rPr sz="500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Desig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n</a:t>
            </a:r>
            <a:r>
              <a:rPr sz="500" u="sng" spc="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(UM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L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Diagram)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pc="-45" dirty="0"/>
              <a:t>Solution</a:t>
            </a:r>
            <a:r>
              <a:rPr spc="-95" dirty="0"/>
              <a:t> </a:t>
            </a:r>
            <a:r>
              <a:rPr spc="-90" dirty="0"/>
              <a:t>Architecture</a:t>
            </a:r>
            <a:r>
              <a:rPr spc="-25" dirty="0"/>
              <a:t> </a:t>
            </a:r>
            <a:r>
              <a:rPr spc="145" dirty="0"/>
              <a:t>&amp;</a:t>
            </a:r>
            <a:r>
              <a:rPr spc="-30" dirty="0"/>
              <a:t> </a:t>
            </a:r>
            <a:r>
              <a:rPr spc="-10" dirty="0"/>
              <a:t>Design</a:t>
            </a: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spc="-40" dirty="0">
                <a:solidFill>
                  <a:srgbClr val="000000"/>
                </a:solidFill>
              </a:rPr>
              <a:t>Visual: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60" dirty="0">
                <a:solidFill>
                  <a:srgbClr val="000000"/>
                </a:solidFill>
              </a:rPr>
              <a:t>Flowchart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60" dirty="0">
                <a:solidFill>
                  <a:srgbClr val="000000"/>
                </a:solidFill>
              </a:rPr>
              <a:t>or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40" dirty="0">
                <a:solidFill>
                  <a:srgbClr val="000000"/>
                </a:solidFill>
              </a:rPr>
              <a:t>diagram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30" dirty="0">
                <a:solidFill>
                  <a:srgbClr val="000000"/>
                </a:solidFill>
              </a:rPr>
              <a:t>showing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65" dirty="0">
                <a:solidFill>
                  <a:srgbClr val="000000"/>
                </a:solidFill>
              </a:rPr>
              <a:t>the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50" dirty="0">
                <a:solidFill>
                  <a:srgbClr val="000000"/>
                </a:solidFill>
              </a:rPr>
              <a:t>optimization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spc="-40" dirty="0">
                <a:solidFill>
                  <a:srgbClr val="000000"/>
                </a:solidFill>
              </a:rPr>
              <a:t>process.</a:t>
            </a:r>
            <a:endParaRPr sz="1000"/>
          </a:p>
        </p:txBody>
      </p:sp>
      <p:grpSp>
        <p:nvGrpSpPr>
          <p:cNvPr id="4" name="object 4"/>
          <p:cNvGrpSpPr/>
          <p:nvPr/>
        </p:nvGrpSpPr>
        <p:grpSpPr>
          <a:xfrm>
            <a:off x="796798" y="810653"/>
            <a:ext cx="4496435" cy="1684655"/>
            <a:chOff x="796798" y="810653"/>
            <a:chExt cx="4496435" cy="168465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798" y="810653"/>
              <a:ext cx="4496308" cy="3129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1248" y="832104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4370068" y="0"/>
                  </a:moveTo>
                  <a:lnTo>
                    <a:pt x="37338" y="0"/>
                  </a:lnTo>
                  <a:lnTo>
                    <a:pt x="22804" y="2934"/>
                  </a:lnTo>
                  <a:lnTo>
                    <a:pt x="10936" y="10936"/>
                  </a:lnTo>
                  <a:lnTo>
                    <a:pt x="2934" y="22804"/>
                  </a:lnTo>
                  <a:lnTo>
                    <a:pt x="0" y="37339"/>
                  </a:lnTo>
                  <a:lnTo>
                    <a:pt x="0" y="186688"/>
                  </a:lnTo>
                  <a:lnTo>
                    <a:pt x="2934" y="201223"/>
                  </a:lnTo>
                  <a:lnTo>
                    <a:pt x="10936" y="213091"/>
                  </a:lnTo>
                  <a:lnTo>
                    <a:pt x="22804" y="221093"/>
                  </a:lnTo>
                  <a:lnTo>
                    <a:pt x="37338" y="224027"/>
                  </a:lnTo>
                  <a:lnTo>
                    <a:pt x="4370068" y="224027"/>
                  </a:lnTo>
                  <a:lnTo>
                    <a:pt x="4384603" y="221093"/>
                  </a:lnTo>
                  <a:lnTo>
                    <a:pt x="4396471" y="213091"/>
                  </a:lnTo>
                  <a:lnTo>
                    <a:pt x="4404473" y="201223"/>
                  </a:lnTo>
                  <a:lnTo>
                    <a:pt x="4407408" y="186688"/>
                  </a:lnTo>
                  <a:lnTo>
                    <a:pt x="4407408" y="37339"/>
                  </a:lnTo>
                  <a:lnTo>
                    <a:pt x="4404473" y="22804"/>
                  </a:lnTo>
                  <a:lnTo>
                    <a:pt x="4396471" y="10936"/>
                  </a:lnTo>
                  <a:lnTo>
                    <a:pt x="4384603" y="2934"/>
                  </a:lnTo>
                  <a:lnTo>
                    <a:pt x="4370068" y="0"/>
                  </a:lnTo>
                  <a:close/>
                </a:path>
              </a:pathLst>
            </a:custGeom>
            <a:solidFill>
              <a:srgbClr val="E8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1248" y="832104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37338" y="0"/>
                  </a:moveTo>
                  <a:lnTo>
                    <a:pt x="4370068" y="0"/>
                  </a:lnTo>
                  <a:lnTo>
                    <a:pt x="4384603" y="2934"/>
                  </a:lnTo>
                  <a:lnTo>
                    <a:pt x="4396471" y="10936"/>
                  </a:lnTo>
                  <a:lnTo>
                    <a:pt x="4404473" y="22804"/>
                  </a:lnTo>
                  <a:lnTo>
                    <a:pt x="4407408" y="37338"/>
                  </a:lnTo>
                  <a:lnTo>
                    <a:pt x="4407408" y="186689"/>
                  </a:lnTo>
                  <a:lnTo>
                    <a:pt x="4404473" y="201223"/>
                  </a:lnTo>
                  <a:lnTo>
                    <a:pt x="4396471" y="213091"/>
                  </a:lnTo>
                  <a:lnTo>
                    <a:pt x="4384603" y="221093"/>
                  </a:lnTo>
                  <a:lnTo>
                    <a:pt x="4370068" y="224028"/>
                  </a:lnTo>
                  <a:lnTo>
                    <a:pt x="37338" y="224028"/>
                  </a:lnTo>
                  <a:lnTo>
                    <a:pt x="22804" y="221093"/>
                  </a:lnTo>
                  <a:lnTo>
                    <a:pt x="10936" y="213091"/>
                  </a:lnTo>
                  <a:lnTo>
                    <a:pt x="2934" y="201223"/>
                  </a:lnTo>
                  <a:lnTo>
                    <a:pt x="0" y="186689"/>
                  </a:lnTo>
                  <a:lnTo>
                    <a:pt x="0" y="37338"/>
                  </a:lnTo>
                  <a:lnTo>
                    <a:pt x="2934" y="22804"/>
                  </a:lnTo>
                  <a:lnTo>
                    <a:pt x="10936" y="10936"/>
                  </a:lnTo>
                  <a:lnTo>
                    <a:pt x="22804" y="2934"/>
                  </a:lnTo>
                  <a:lnTo>
                    <a:pt x="37338" y="0"/>
                  </a:lnTo>
                  <a:close/>
                </a:path>
              </a:pathLst>
            </a:custGeom>
            <a:ln w="1270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7327" y="1038031"/>
              <a:ext cx="95250" cy="1219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44952" y="1056132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ln w="1905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798" y="1084973"/>
              <a:ext cx="4496308" cy="3129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41248" y="1106424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4370068" y="0"/>
                  </a:moveTo>
                  <a:lnTo>
                    <a:pt x="37338" y="0"/>
                  </a:lnTo>
                  <a:lnTo>
                    <a:pt x="22804" y="2934"/>
                  </a:lnTo>
                  <a:lnTo>
                    <a:pt x="10936" y="10936"/>
                  </a:lnTo>
                  <a:lnTo>
                    <a:pt x="2934" y="22804"/>
                  </a:lnTo>
                  <a:lnTo>
                    <a:pt x="0" y="37339"/>
                  </a:lnTo>
                  <a:lnTo>
                    <a:pt x="0" y="186688"/>
                  </a:lnTo>
                  <a:lnTo>
                    <a:pt x="2934" y="201223"/>
                  </a:lnTo>
                  <a:lnTo>
                    <a:pt x="10936" y="213091"/>
                  </a:lnTo>
                  <a:lnTo>
                    <a:pt x="22804" y="221093"/>
                  </a:lnTo>
                  <a:lnTo>
                    <a:pt x="37338" y="224027"/>
                  </a:lnTo>
                  <a:lnTo>
                    <a:pt x="4370068" y="224027"/>
                  </a:lnTo>
                  <a:lnTo>
                    <a:pt x="4384603" y="221093"/>
                  </a:lnTo>
                  <a:lnTo>
                    <a:pt x="4396471" y="213091"/>
                  </a:lnTo>
                  <a:lnTo>
                    <a:pt x="4404473" y="201223"/>
                  </a:lnTo>
                  <a:lnTo>
                    <a:pt x="4407408" y="186688"/>
                  </a:lnTo>
                  <a:lnTo>
                    <a:pt x="4407408" y="37339"/>
                  </a:lnTo>
                  <a:lnTo>
                    <a:pt x="4404473" y="22804"/>
                  </a:lnTo>
                  <a:lnTo>
                    <a:pt x="4396471" y="10936"/>
                  </a:lnTo>
                  <a:lnTo>
                    <a:pt x="4384603" y="2934"/>
                  </a:lnTo>
                  <a:lnTo>
                    <a:pt x="4370068" y="0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1248" y="1106424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37338" y="0"/>
                  </a:moveTo>
                  <a:lnTo>
                    <a:pt x="4370068" y="0"/>
                  </a:lnTo>
                  <a:lnTo>
                    <a:pt x="4384603" y="2934"/>
                  </a:lnTo>
                  <a:lnTo>
                    <a:pt x="4396471" y="10936"/>
                  </a:lnTo>
                  <a:lnTo>
                    <a:pt x="4404473" y="22804"/>
                  </a:lnTo>
                  <a:lnTo>
                    <a:pt x="4407408" y="37338"/>
                  </a:lnTo>
                  <a:lnTo>
                    <a:pt x="4407408" y="186689"/>
                  </a:lnTo>
                  <a:lnTo>
                    <a:pt x="4404473" y="201223"/>
                  </a:lnTo>
                  <a:lnTo>
                    <a:pt x="4396471" y="213091"/>
                  </a:lnTo>
                  <a:lnTo>
                    <a:pt x="4384603" y="221093"/>
                  </a:lnTo>
                  <a:lnTo>
                    <a:pt x="4370068" y="224028"/>
                  </a:lnTo>
                  <a:lnTo>
                    <a:pt x="37338" y="224028"/>
                  </a:lnTo>
                  <a:lnTo>
                    <a:pt x="22804" y="221093"/>
                  </a:lnTo>
                  <a:lnTo>
                    <a:pt x="10936" y="213091"/>
                  </a:lnTo>
                  <a:lnTo>
                    <a:pt x="2934" y="201223"/>
                  </a:lnTo>
                  <a:lnTo>
                    <a:pt x="0" y="186689"/>
                  </a:lnTo>
                  <a:lnTo>
                    <a:pt x="0" y="37338"/>
                  </a:lnTo>
                  <a:lnTo>
                    <a:pt x="2934" y="22804"/>
                  </a:lnTo>
                  <a:lnTo>
                    <a:pt x="10936" y="10936"/>
                  </a:lnTo>
                  <a:lnTo>
                    <a:pt x="22804" y="2934"/>
                  </a:lnTo>
                  <a:lnTo>
                    <a:pt x="37338" y="0"/>
                  </a:lnTo>
                  <a:close/>
                </a:path>
              </a:pathLst>
            </a:custGeom>
            <a:ln w="1270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7327" y="1312351"/>
              <a:ext cx="95250" cy="1219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44952" y="1330452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ln w="1905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798" y="1359293"/>
              <a:ext cx="4496308" cy="3129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41248" y="1380744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4370068" y="0"/>
                  </a:moveTo>
                  <a:lnTo>
                    <a:pt x="37338" y="0"/>
                  </a:lnTo>
                  <a:lnTo>
                    <a:pt x="22804" y="2934"/>
                  </a:lnTo>
                  <a:lnTo>
                    <a:pt x="10936" y="10936"/>
                  </a:lnTo>
                  <a:lnTo>
                    <a:pt x="2934" y="22804"/>
                  </a:lnTo>
                  <a:lnTo>
                    <a:pt x="0" y="37339"/>
                  </a:lnTo>
                  <a:lnTo>
                    <a:pt x="0" y="186688"/>
                  </a:lnTo>
                  <a:lnTo>
                    <a:pt x="2934" y="201223"/>
                  </a:lnTo>
                  <a:lnTo>
                    <a:pt x="10936" y="213091"/>
                  </a:lnTo>
                  <a:lnTo>
                    <a:pt x="22804" y="221093"/>
                  </a:lnTo>
                  <a:lnTo>
                    <a:pt x="37338" y="224028"/>
                  </a:lnTo>
                  <a:lnTo>
                    <a:pt x="4370068" y="224028"/>
                  </a:lnTo>
                  <a:lnTo>
                    <a:pt x="4384603" y="221093"/>
                  </a:lnTo>
                  <a:lnTo>
                    <a:pt x="4396471" y="213091"/>
                  </a:lnTo>
                  <a:lnTo>
                    <a:pt x="4404473" y="201223"/>
                  </a:lnTo>
                  <a:lnTo>
                    <a:pt x="4407408" y="186688"/>
                  </a:lnTo>
                  <a:lnTo>
                    <a:pt x="4407408" y="37339"/>
                  </a:lnTo>
                  <a:lnTo>
                    <a:pt x="4404473" y="22804"/>
                  </a:lnTo>
                  <a:lnTo>
                    <a:pt x="4396471" y="10936"/>
                  </a:lnTo>
                  <a:lnTo>
                    <a:pt x="4384603" y="2934"/>
                  </a:lnTo>
                  <a:lnTo>
                    <a:pt x="4370068" y="0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1248" y="1380744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37338" y="0"/>
                  </a:moveTo>
                  <a:lnTo>
                    <a:pt x="4370068" y="0"/>
                  </a:lnTo>
                  <a:lnTo>
                    <a:pt x="4384603" y="2934"/>
                  </a:lnTo>
                  <a:lnTo>
                    <a:pt x="4396471" y="10936"/>
                  </a:lnTo>
                  <a:lnTo>
                    <a:pt x="4404473" y="22804"/>
                  </a:lnTo>
                  <a:lnTo>
                    <a:pt x="4407408" y="37338"/>
                  </a:lnTo>
                  <a:lnTo>
                    <a:pt x="4407408" y="186689"/>
                  </a:lnTo>
                  <a:lnTo>
                    <a:pt x="4404473" y="201223"/>
                  </a:lnTo>
                  <a:lnTo>
                    <a:pt x="4396471" y="213091"/>
                  </a:lnTo>
                  <a:lnTo>
                    <a:pt x="4384603" y="221093"/>
                  </a:lnTo>
                  <a:lnTo>
                    <a:pt x="4370068" y="224028"/>
                  </a:lnTo>
                  <a:lnTo>
                    <a:pt x="37338" y="224028"/>
                  </a:lnTo>
                  <a:lnTo>
                    <a:pt x="22804" y="221093"/>
                  </a:lnTo>
                  <a:lnTo>
                    <a:pt x="10936" y="213091"/>
                  </a:lnTo>
                  <a:lnTo>
                    <a:pt x="2934" y="201223"/>
                  </a:lnTo>
                  <a:lnTo>
                    <a:pt x="0" y="186689"/>
                  </a:lnTo>
                  <a:lnTo>
                    <a:pt x="0" y="37338"/>
                  </a:lnTo>
                  <a:lnTo>
                    <a:pt x="2934" y="22804"/>
                  </a:lnTo>
                  <a:lnTo>
                    <a:pt x="10936" y="10936"/>
                  </a:lnTo>
                  <a:lnTo>
                    <a:pt x="22804" y="2934"/>
                  </a:lnTo>
                  <a:lnTo>
                    <a:pt x="37338" y="0"/>
                  </a:lnTo>
                  <a:close/>
                </a:path>
              </a:pathLst>
            </a:custGeom>
            <a:ln w="1270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7327" y="1586671"/>
              <a:ext cx="95250" cy="1219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44952" y="1604772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ln w="1905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798" y="1633613"/>
              <a:ext cx="4496308" cy="31292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41248" y="1655063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4370068" y="0"/>
                  </a:moveTo>
                  <a:lnTo>
                    <a:pt x="37338" y="0"/>
                  </a:lnTo>
                  <a:lnTo>
                    <a:pt x="22804" y="2934"/>
                  </a:lnTo>
                  <a:lnTo>
                    <a:pt x="10936" y="10936"/>
                  </a:lnTo>
                  <a:lnTo>
                    <a:pt x="2934" y="22804"/>
                  </a:lnTo>
                  <a:lnTo>
                    <a:pt x="0" y="37339"/>
                  </a:lnTo>
                  <a:lnTo>
                    <a:pt x="0" y="186688"/>
                  </a:lnTo>
                  <a:lnTo>
                    <a:pt x="2934" y="201223"/>
                  </a:lnTo>
                  <a:lnTo>
                    <a:pt x="10936" y="213091"/>
                  </a:lnTo>
                  <a:lnTo>
                    <a:pt x="22804" y="221093"/>
                  </a:lnTo>
                  <a:lnTo>
                    <a:pt x="37338" y="224028"/>
                  </a:lnTo>
                  <a:lnTo>
                    <a:pt x="4370068" y="224028"/>
                  </a:lnTo>
                  <a:lnTo>
                    <a:pt x="4384603" y="221093"/>
                  </a:lnTo>
                  <a:lnTo>
                    <a:pt x="4396471" y="213091"/>
                  </a:lnTo>
                  <a:lnTo>
                    <a:pt x="4404473" y="201223"/>
                  </a:lnTo>
                  <a:lnTo>
                    <a:pt x="4407408" y="186688"/>
                  </a:lnTo>
                  <a:lnTo>
                    <a:pt x="4407408" y="37339"/>
                  </a:lnTo>
                  <a:lnTo>
                    <a:pt x="4404473" y="22804"/>
                  </a:lnTo>
                  <a:lnTo>
                    <a:pt x="4396471" y="10936"/>
                  </a:lnTo>
                  <a:lnTo>
                    <a:pt x="4384603" y="2934"/>
                  </a:lnTo>
                  <a:lnTo>
                    <a:pt x="4370068" y="0"/>
                  </a:lnTo>
                  <a:close/>
                </a:path>
              </a:pathLst>
            </a:custGeom>
            <a:solidFill>
              <a:srgbClr val="FFF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41248" y="1655063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37338" y="0"/>
                  </a:moveTo>
                  <a:lnTo>
                    <a:pt x="4370068" y="0"/>
                  </a:lnTo>
                  <a:lnTo>
                    <a:pt x="4384603" y="2934"/>
                  </a:lnTo>
                  <a:lnTo>
                    <a:pt x="4396471" y="10936"/>
                  </a:lnTo>
                  <a:lnTo>
                    <a:pt x="4404473" y="22804"/>
                  </a:lnTo>
                  <a:lnTo>
                    <a:pt x="4407408" y="37338"/>
                  </a:lnTo>
                  <a:lnTo>
                    <a:pt x="4407408" y="186689"/>
                  </a:lnTo>
                  <a:lnTo>
                    <a:pt x="4404473" y="201223"/>
                  </a:lnTo>
                  <a:lnTo>
                    <a:pt x="4396471" y="213091"/>
                  </a:lnTo>
                  <a:lnTo>
                    <a:pt x="4384603" y="221093"/>
                  </a:lnTo>
                  <a:lnTo>
                    <a:pt x="4370068" y="224028"/>
                  </a:lnTo>
                  <a:lnTo>
                    <a:pt x="37338" y="224028"/>
                  </a:lnTo>
                  <a:lnTo>
                    <a:pt x="22804" y="221093"/>
                  </a:lnTo>
                  <a:lnTo>
                    <a:pt x="10936" y="213091"/>
                  </a:lnTo>
                  <a:lnTo>
                    <a:pt x="2934" y="201223"/>
                  </a:lnTo>
                  <a:lnTo>
                    <a:pt x="0" y="186689"/>
                  </a:lnTo>
                  <a:lnTo>
                    <a:pt x="0" y="37338"/>
                  </a:lnTo>
                  <a:lnTo>
                    <a:pt x="2934" y="22804"/>
                  </a:lnTo>
                  <a:lnTo>
                    <a:pt x="10936" y="10936"/>
                  </a:lnTo>
                  <a:lnTo>
                    <a:pt x="22804" y="2934"/>
                  </a:lnTo>
                  <a:lnTo>
                    <a:pt x="37338" y="0"/>
                  </a:lnTo>
                  <a:close/>
                </a:path>
              </a:pathLst>
            </a:custGeom>
            <a:ln w="1270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7327" y="1860991"/>
              <a:ext cx="95250" cy="1219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44952" y="1879091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ln w="1905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798" y="1907933"/>
              <a:ext cx="4496308" cy="3129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41248" y="1929383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4370068" y="0"/>
                  </a:moveTo>
                  <a:lnTo>
                    <a:pt x="37338" y="0"/>
                  </a:lnTo>
                  <a:lnTo>
                    <a:pt x="22804" y="2934"/>
                  </a:lnTo>
                  <a:lnTo>
                    <a:pt x="10936" y="10936"/>
                  </a:lnTo>
                  <a:lnTo>
                    <a:pt x="2934" y="22804"/>
                  </a:lnTo>
                  <a:lnTo>
                    <a:pt x="0" y="37339"/>
                  </a:lnTo>
                  <a:lnTo>
                    <a:pt x="0" y="186689"/>
                  </a:lnTo>
                  <a:lnTo>
                    <a:pt x="2934" y="201223"/>
                  </a:lnTo>
                  <a:lnTo>
                    <a:pt x="10936" y="213091"/>
                  </a:lnTo>
                  <a:lnTo>
                    <a:pt x="22804" y="221093"/>
                  </a:lnTo>
                  <a:lnTo>
                    <a:pt x="37338" y="224027"/>
                  </a:lnTo>
                  <a:lnTo>
                    <a:pt x="4370068" y="224027"/>
                  </a:lnTo>
                  <a:lnTo>
                    <a:pt x="4384603" y="221093"/>
                  </a:lnTo>
                  <a:lnTo>
                    <a:pt x="4396471" y="213091"/>
                  </a:lnTo>
                  <a:lnTo>
                    <a:pt x="4404473" y="201223"/>
                  </a:lnTo>
                  <a:lnTo>
                    <a:pt x="4407408" y="186689"/>
                  </a:lnTo>
                  <a:lnTo>
                    <a:pt x="4407408" y="37339"/>
                  </a:lnTo>
                  <a:lnTo>
                    <a:pt x="4404473" y="22804"/>
                  </a:lnTo>
                  <a:lnTo>
                    <a:pt x="4396471" y="10936"/>
                  </a:lnTo>
                  <a:lnTo>
                    <a:pt x="4384603" y="2934"/>
                  </a:lnTo>
                  <a:lnTo>
                    <a:pt x="4370068" y="0"/>
                  </a:lnTo>
                  <a:close/>
                </a:path>
              </a:pathLst>
            </a:custGeom>
            <a:solidFill>
              <a:srgbClr val="FF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1248" y="1929383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37338" y="0"/>
                  </a:moveTo>
                  <a:lnTo>
                    <a:pt x="4370068" y="0"/>
                  </a:lnTo>
                  <a:lnTo>
                    <a:pt x="4384603" y="2934"/>
                  </a:lnTo>
                  <a:lnTo>
                    <a:pt x="4396471" y="10936"/>
                  </a:lnTo>
                  <a:lnTo>
                    <a:pt x="4404473" y="22804"/>
                  </a:lnTo>
                  <a:lnTo>
                    <a:pt x="4407408" y="37338"/>
                  </a:lnTo>
                  <a:lnTo>
                    <a:pt x="4407408" y="186689"/>
                  </a:lnTo>
                  <a:lnTo>
                    <a:pt x="4404473" y="201223"/>
                  </a:lnTo>
                  <a:lnTo>
                    <a:pt x="4396471" y="213091"/>
                  </a:lnTo>
                  <a:lnTo>
                    <a:pt x="4384603" y="221093"/>
                  </a:lnTo>
                  <a:lnTo>
                    <a:pt x="4370068" y="224028"/>
                  </a:lnTo>
                  <a:lnTo>
                    <a:pt x="37338" y="224028"/>
                  </a:lnTo>
                  <a:lnTo>
                    <a:pt x="22804" y="221093"/>
                  </a:lnTo>
                  <a:lnTo>
                    <a:pt x="10936" y="213091"/>
                  </a:lnTo>
                  <a:lnTo>
                    <a:pt x="2934" y="201223"/>
                  </a:lnTo>
                  <a:lnTo>
                    <a:pt x="0" y="186689"/>
                  </a:lnTo>
                  <a:lnTo>
                    <a:pt x="0" y="37338"/>
                  </a:lnTo>
                  <a:lnTo>
                    <a:pt x="2934" y="22804"/>
                  </a:lnTo>
                  <a:lnTo>
                    <a:pt x="10936" y="10936"/>
                  </a:lnTo>
                  <a:lnTo>
                    <a:pt x="22804" y="2934"/>
                  </a:lnTo>
                  <a:lnTo>
                    <a:pt x="37338" y="0"/>
                  </a:lnTo>
                  <a:close/>
                </a:path>
              </a:pathLst>
            </a:custGeom>
            <a:ln w="12700">
              <a:solidFill>
                <a:srgbClr val="AD36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7327" y="2135312"/>
              <a:ext cx="95250" cy="12192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44952" y="2153411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ln w="1905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6798" y="2182254"/>
              <a:ext cx="4496308" cy="31292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41248" y="2203704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4370068" y="0"/>
                  </a:moveTo>
                  <a:lnTo>
                    <a:pt x="37338" y="0"/>
                  </a:lnTo>
                  <a:lnTo>
                    <a:pt x="22804" y="2934"/>
                  </a:lnTo>
                  <a:lnTo>
                    <a:pt x="10936" y="10936"/>
                  </a:lnTo>
                  <a:lnTo>
                    <a:pt x="2934" y="22804"/>
                  </a:lnTo>
                  <a:lnTo>
                    <a:pt x="0" y="37338"/>
                  </a:lnTo>
                  <a:lnTo>
                    <a:pt x="0" y="186689"/>
                  </a:lnTo>
                  <a:lnTo>
                    <a:pt x="2934" y="201223"/>
                  </a:lnTo>
                  <a:lnTo>
                    <a:pt x="10936" y="213091"/>
                  </a:lnTo>
                  <a:lnTo>
                    <a:pt x="22804" y="221093"/>
                  </a:lnTo>
                  <a:lnTo>
                    <a:pt x="37338" y="224028"/>
                  </a:lnTo>
                  <a:lnTo>
                    <a:pt x="4370068" y="224028"/>
                  </a:lnTo>
                  <a:lnTo>
                    <a:pt x="4384603" y="221093"/>
                  </a:lnTo>
                  <a:lnTo>
                    <a:pt x="4396471" y="213091"/>
                  </a:lnTo>
                  <a:lnTo>
                    <a:pt x="4404473" y="201223"/>
                  </a:lnTo>
                  <a:lnTo>
                    <a:pt x="4407408" y="186689"/>
                  </a:lnTo>
                  <a:lnTo>
                    <a:pt x="4407408" y="37338"/>
                  </a:lnTo>
                  <a:lnTo>
                    <a:pt x="4404473" y="22804"/>
                  </a:lnTo>
                  <a:lnTo>
                    <a:pt x="4396471" y="10936"/>
                  </a:lnTo>
                  <a:lnTo>
                    <a:pt x="4384603" y="2934"/>
                  </a:lnTo>
                  <a:lnTo>
                    <a:pt x="4370068" y="0"/>
                  </a:lnTo>
                  <a:close/>
                </a:path>
              </a:pathLst>
            </a:custGeom>
            <a:solidFill>
              <a:srgbClr val="E1F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1248" y="2203704"/>
              <a:ext cx="4407535" cy="224154"/>
            </a:xfrm>
            <a:custGeom>
              <a:avLst/>
              <a:gdLst/>
              <a:ahLst/>
              <a:cxnLst/>
              <a:rect l="l" t="t" r="r" b="b"/>
              <a:pathLst>
                <a:path w="4407535" h="224155">
                  <a:moveTo>
                    <a:pt x="37338" y="0"/>
                  </a:moveTo>
                  <a:lnTo>
                    <a:pt x="4370068" y="0"/>
                  </a:lnTo>
                  <a:lnTo>
                    <a:pt x="4384603" y="2934"/>
                  </a:lnTo>
                  <a:lnTo>
                    <a:pt x="4396471" y="10936"/>
                  </a:lnTo>
                  <a:lnTo>
                    <a:pt x="4404473" y="22804"/>
                  </a:lnTo>
                  <a:lnTo>
                    <a:pt x="4407408" y="37338"/>
                  </a:lnTo>
                  <a:lnTo>
                    <a:pt x="4407408" y="186689"/>
                  </a:lnTo>
                  <a:lnTo>
                    <a:pt x="4404473" y="201223"/>
                  </a:lnTo>
                  <a:lnTo>
                    <a:pt x="4396471" y="213091"/>
                  </a:lnTo>
                  <a:lnTo>
                    <a:pt x="4384603" y="221093"/>
                  </a:lnTo>
                  <a:lnTo>
                    <a:pt x="4370068" y="224028"/>
                  </a:lnTo>
                  <a:lnTo>
                    <a:pt x="37338" y="224028"/>
                  </a:lnTo>
                  <a:lnTo>
                    <a:pt x="22804" y="221093"/>
                  </a:lnTo>
                  <a:lnTo>
                    <a:pt x="10936" y="213091"/>
                  </a:lnTo>
                  <a:lnTo>
                    <a:pt x="2934" y="201223"/>
                  </a:lnTo>
                  <a:lnTo>
                    <a:pt x="0" y="186689"/>
                  </a:lnTo>
                  <a:lnTo>
                    <a:pt x="0" y="37338"/>
                  </a:lnTo>
                  <a:lnTo>
                    <a:pt x="2934" y="22804"/>
                  </a:lnTo>
                  <a:lnTo>
                    <a:pt x="10936" y="10936"/>
                  </a:lnTo>
                  <a:lnTo>
                    <a:pt x="22804" y="2934"/>
                  </a:lnTo>
                  <a:lnTo>
                    <a:pt x="37338" y="0"/>
                  </a:lnTo>
                  <a:close/>
                </a:path>
              </a:pathLst>
            </a:custGeom>
            <a:ln w="12700">
              <a:solidFill>
                <a:srgbClr val="2C75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37994" y="859231"/>
            <a:ext cx="2014220" cy="183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Android</a:t>
            </a:r>
            <a:r>
              <a:rPr sz="800" b="1" spc="-1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test</a:t>
            </a:r>
            <a:r>
              <a:rPr sz="800" b="1" spc="-1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35" dirty="0">
                <a:solidFill>
                  <a:srgbClr val="262D36"/>
                </a:solidFill>
                <a:latin typeface="Trebuchet MS"/>
                <a:cs typeface="Trebuchet MS"/>
              </a:rPr>
              <a:t>app</a:t>
            </a:r>
            <a:r>
              <a:rPr sz="800" b="1" spc="-1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dirty="0">
                <a:solidFill>
                  <a:srgbClr val="262D36"/>
                </a:solidFill>
                <a:latin typeface="Trebuchet MS"/>
                <a:cs typeface="Trebuchet MS"/>
              </a:rPr>
              <a:t>/</a:t>
            </a:r>
            <a:r>
              <a:rPr sz="800" b="1" spc="-1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35" dirty="0">
                <a:solidFill>
                  <a:srgbClr val="262D36"/>
                </a:solidFill>
                <a:latin typeface="Trebuchet MS"/>
                <a:cs typeface="Trebuchet MS"/>
              </a:rPr>
              <a:t>disposable</a:t>
            </a:r>
            <a:r>
              <a:rPr sz="800" b="1" spc="-10" dirty="0">
                <a:solidFill>
                  <a:srgbClr val="262D36"/>
                </a:solidFill>
                <a:latin typeface="Trebuchet MS"/>
                <a:cs typeface="Trebuchet MS"/>
              </a:rPr>
              <a:t> files</a:t>
            </a:r>
            <a:endParaRPr sz="800">
              <a:latin typeface="Trebuchet MS"/>
              <a:cs typeface="Trebuchet MS"/>
            </a:endParaRPr>
          </a:p>
          <a:p>
            <a:pPr marL="12700" marR="5080" algn="ctr">
              <a:lnSpc>
                <a:spcPct val="225000"/>
              </a:lnSpc>
            </a:pPr>
            <a:r>
              <a:rPr sz="800" spc="-20" dirty="0">
                <a:solidFill>
                  <a:srgbClr val="262D36"/>
                </a:solidFill>
                <a:latin typeface="Tahoma"/>
                <a:cs typeface="Tahoma"/>
              </a:rPr>
              <a:t>Behaviour</a:t>
            </a:r>
            <a:r>
              <a:rPr sz="8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262D36"/>
                </a:solidFill>
                <a:latin typeface="Tahoma"/>
                <a:cs typeface="Tahoma"/>
              </a:rPr>
              <a:t>monitor:</a:t>
            </a:r>
            <a:r>
              <a:rPr sz="8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62D36"/>
                </a:solidFill>
                <a:latin typeface="Tahoma"/>
                <a:cs typeface="Tahoma"/>
              </a:rPr>
              <a:t>permitted</a:t>
            </a:r>
            <a:r>
              <a:rPr sz="8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62D36"/>
                </a:solidFill>
                <a:latin typeface="Tahoma"/>
                <a:cs typeface="Tahoma"/>
              </a:rPr>
              <a:t>file</a:t>
            </a:r>
            <a:r>
              <a:rPr sz="800" spc="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62D36"/>
                </a:solidFill>
                <a:latin typeface="Tahoma"/>
                <a:cs typeface="Tahoma"/>
              </a:rPr>
              <a:t>events </a:t>
            </a:r>
            <a:r>
              <a:rPr sz="800" spc="-20" dirty="0">
                <a:solidFill>
                  <a:srgbClr val="262D36"/>
                </a:solidFill>
                <a:latin typeface="Tahoma"/>
                <a:cs typeface="Tahoma"/>
              </a:rPr>
              <a:t>Feature</a:t>
            </a:r>
            <a:r>
              <a:rPr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262D36"/>
                </a:solidFill>
                <a:latin typeface="Tahoma"/>
                <a:cs typeface="Tahoma"/>
              </a:rPr>
              <a:t>extraction:</a:t>
            </a:r>
            <a:r>
              <a:rPr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62D36"/>
                </a:solidFill>
                <a:latin typeface="Tahoma"/>
                <a:cs typeface="Tahoma"/>
              </a:rPr>
              <a:t>writes</a:t>
            </a:r>
            <a:r>
              <a:rPr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62D36"/>
                </a:solidFill>
                <a:latin typeface="Tahoma"/>
                <a:cs typeface="Tahoma"/>
              </a:rPr>
              <a:t>•</a:t>
            </a:r>
            <a:r>
              <a:rPr sz="800" spc="-25" dirty="0">
                <a:solidFill>
                  <a:srgbClr val="262D36"/>
                </a:solidFill>
                <a:latin typeface="Tahoma"/>
                <a:cs typeface="Tahoma"/>
              </a:rPr>
              <a:t> renames </a:t>
            </a:r>
            <a:r>
              <a:rPr sz="800" dirty="0">
                <a:solidFill>
                  <a:srgbClr val="262D36"/>
                </a:solidFill>
                <a:latin typeface="Tahoma"/>
                <a:cs typeface="Tahoma"/>
              </a:rPr>
              <a:t>•</a:t>
            </a:r>
            <a:r>
              <a:rPr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262D36"/>
                </a:solidFill>
                <a:latin typeface="Tahoma"/>
                <a:cs typeface="Tahoma"/>
              </a:rPr>
              <a:t>creates </a:t>
            </a:r>
            <a:r>
              <a:rPr sz="800" b="1" spc="-30" dirty="0">
                <a:solidFill>
                  <a:srgbClr val="262D36"/>
                </a:solidFill>
                <a:latin typeface="Trebuchet MS"/>
                <a:cs typeface="Trebuchet MS"/>
              </a:rPr>
              <a:t>Rule</a:t>
            </a:r>
            <a:r>
              <a:rPr sz="800" b="1" spc="-1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5" dirty="0">
                <a:solidFill>
                  <a:srgbClr val="262D36"/>
                </a:solidFill>
                <a:latin typeface="Trebuchet MS"/>
                <a:cs typeface="Trebuchet MS"/>
              </a:rPr>
              <a:t>engine:</a:t>
            </a:r>
            <a:r>
              <a:rPr sz="800" b="1" spc="-2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weighted</a:t>
            </a:r>
            <a:r>
              <a:rPr sz="800" b="1" spc="-1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risk </a:t>
            </a:r>
            <a:r>
              <a:rPr sz="800" b="1" spc="-50" dirty="0">
                <a:solidFill>
                  <a:srgbClr val="262D36"/>
                </a:solidFill>
                <a:latin typeface="Trebuchet MS"/>
                <a:cs typeface="Trebuchet MS"/>
              </a:rPr>
              <a:t>score</a:t>
            </a:r>
            <a:r>
              <a:rPr sz="800" b="1" spc="-1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dirty="0">
                <a:solidFill>
                  <a:srgbClr val="262D36"/>
                </a:solidFill>
                <a:latin typeface="Trebuchet MS"/>
                <a:cs typeface="Trebuchet MS"/>
              </a:rPr>
              <a:t>(0–</a:t>
            </a:r>
            <a:r>
              <a:rPr sz="800" b="1" spc="-20" dirty="0">
                <a:solidFill>
                  <a:srgbClr val="262D36"/>
                </a:solidFill>
                <a:latin typeface="Trebuchet MS"/>
                <a:cs typeface="Trebuchet MS"/>
              </a:rPr>
              <a:t>100)</a:t>
            </a:r>
            <a:r>
              <a:rPr sz="800" b="1" spc="50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262D36"/>
                </a:solidFill>
                <a:latin typeface="Tahoma"/>
                <a:cs typeface="Tahoma"/>
              </a:rPr>
              <a:t>Risk</a:t>
            </a:r>
            <a:r>
              <a:rPr sz="800" spc="-5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262D36"/>
                </a:solidFill>
                <a:latin typeface="Tahoma"/>
                <a:cs typeface="Tahoma"/>
              </a:rPr>
              <a:t>level</a:t>
            </a:r>
            <a:r>
              <a:rPr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spc="-195" dirty="0">
                <a:solidFill>
                  <a:srgbClr val="262D36"/>
                </a:solidFill>
                <a:latin typeface="Tahoma"/>
                <a:cs typeface="Tahoma"/>
              </a:rPr>
              <a:t>+</a:t>
            </a:r>
            <a:r>
              <a:rPr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262D36"/>
                </a:solidFill>
                <a:latin typeface="Tahoma"/>
                <a:cs typeface="Tahoma"/>
              </a:rPr>
              <a:t>explanation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45" dirty="0">
                <a:solidFill>
                  <a:srgbClr val="262D36"/>
                </a:solidFill>
                <a:latin typeface="Trebuchet MS"/>
                <a:cs typeface="Trebuchet MS"/>
              </a:rPr>
              <a:t>User</a:t>
            </a:r>
            <a:r>
              <a:rPr sz="800" b="1" spc="-2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35" dirty="0">
                <a:solidFill>
                  <a:srgbClr val="262D36"/>
                </a:solidFill>
                <a:latin typeface="Trebuchet MS"/>
                <a:cs typeface="Trebuchet MS"/>
              </a:rPr>
              <a:t>alert</a:t>
            </a:r>
            <a:r>
              <a:rPr sz="800" b="1" spc="-2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65" dirty="0">
                <a:solidFill>
                  <a:srgbClr val="262D36"/>
                </a:solidFill>
                <a:latin typeface="Trebuchet MS"/>
                <a:cs typeface="Trebuchet MS"/>
              </a:rPr>
              <a:t>+</a:t>
            </a:r>
            <a:r>
              <a:rPr sz="800" b="1" spc="-2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60" dirty="0">
                <a:solidFill>
                  <a:srgbClr val="262D36"/>
                </a:solidFill>
                <a:latin typeface="Trebuchet MS"/>
                <a:cs typeface="Trebuchet MS"/>
              </a:rPr>
              <a:t>event</a:t>
            </a:r>
            <a:r>
              <a:rPr sz="800" b="1" spc="-25" dirty="0">
                <a:solidFill>
                  <a:srgbClr val="262D36"/>
                </a:solidFill>
                <a:latin typeface="Trebuchet MS"/>
                <a:cs typeface="Trebuchet MS"/>
              </a:rPr>
              <a:t> log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800" i="1" spc="20" dirty="0">
                <a:solidFill>
                  <a:srgbClr val="5A6470"/>
                </a:solidFill>
                <a:latin typeface="Arial Narrow"/>
                <a:cs typeface="Arial Narrow"/>
              </a:rPr>
              <a:t>Figure:</a:t>
            </a:r>
            <a:r>
              <a:rPr sz="800" i="1" spc="100" dirty="0">
                <a:solidFill>
                  <a:srgbClr val="5A6470"/>
                </a:solidFill>
                <a:latin typeface="Arial Narrow"/>
                <a:cs typeface="Arial Narrow"/>
              </a:rPr>
              <a:t> </a:t>
            </a:r>
            <a:r>
              <a:rPr sz="800" i="1" spc="20" dirty="0">
                <a:solidFill>
                  <a:srgbClr val="5A6470"/>
                </a:solidFill>
                <a:latin typeface="Arial Narrow"/>
                <a:cs typeface="Arial Narrow"/>
              </a:rPr>
              <a:t>System</a:t>
            </a:r>
            <a:r>
              <a:rPr sz="800" i="1" spc="70" dirty="0">
                <a:solidFill>
                  <a:srgbClr val="5A6470"/>
                </a:solidFill>
                <a:latin typeface="Arial Narrow"/>
                <a:cs typeface="Arial Narrow"/>
              </a:rPr>
              <a:t> </a:t>
            </a:r>
            <a:r>
              <a:rPr sz="800" i="1" spc="20" dirty="0">
                <a:solidFill>
                  <a:srgbClr val="5A6470"/>
                </a:solidFill>
                <a:latin typeface="Arial Narrow"/>
                <a:cs typeface="Arial Narrow"/>
              </a:rPr>
              <a:t>Architecture</a:t>
            </a:r>
            <a:r>
              <a:rPr sz="800" i="1" spc="100" dirty="0">
                <a:solidFill>
                  <a:srgbClr val="5A6470"/>
                </a:solidFill>
                <a:latin typeface="Arial Narrow"/>
                <a:cs typeface="Arial Narrow"/>
              </a:rPr>
              <a:t> </a:t>
            </a:r>
            <a:r>
              <a:rPr sz="800" i="1" spc="20" dirty="0">
                <a:solidFill>
                  <a:srgbClr val="5A6470"/>
                </a:solidFill>
                <a:latin typeface="Arial Narrow"/>
                <a:cs typeface="Arial Narrow"/>
              </a:rPr>
              <a:t>UML</a:t>
            </a:r>
            <a:r>
              <a:rPr sz="800" i="1" spc="55" dirty="0">
                <a:solidFill>
                  <a:srgbClr val="5A6470"/>
                </a:solidFill>
                <a:latin typeface="Arial Narrow"/>
                <a:cs typeface="Arial Narrow"/>
              </a:rPr>
              <a:t> </a:t>
            </a:r>
            <a:r>
              <a:rPr sz="800" i="1" spc="-10" dirty="0">
                <a:solidFill>
                  <a:srgbClr val="5A6470"/>
                </a:solidFill>
                <a:latin typeface="Arial Narrow"/>
                <a:cs typeface="Arial Narrow"/>
              </a:rPr>
              <a:t>Diagram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xfrm>
            <a:off x="1166199" y="3106721"/>
            <a:ext cx="786944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7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26559"/>
            <a:ext cx="98298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850" algn="l"/>
              </a:tabLst>
            </a:pP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AIOR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I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3</a:t>
            </a:r>
            <a:r>
              <a:rPr sz="500" dirty="0">
                <a:solidFill>
                  <a:srgbClr val="0000FF"/>
                </a:solidFill>
                <a:latin typeface="Tahoma"/>
                <a:cs typeface="Tahoma"/>
              </a:rPr>
              <a:t>	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Dat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a</a:t>
            </a:r>
            <a:r>
              <a:rPr sz="5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Flo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w</a:t>
            </a:r>
            <a:r>
              <a:rPr sz="5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Diagram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45" dirty="0"/>
              <a:t>Data</a:t>
            </a:r>
            <a:r>
              <a:rPr spc="-60" dirty="0"/>
              <a:t> </a:t>
            </a:r>
            <a:r>
              <a:rPr spc="-70" dirty="0"/>
              <a:t>Flow</a:t>
            </a:r>
            <a:r>
              <a:rPr spc="-90" dirty="0"/>
              <a:t> </a:t>
            </a:r>
            <a:r>
              <a:rPr spc="-10" dirty="0"/>
              <a:t>Diagram</a:t>
            </a:r>
          </a:p>
          <a:p>
            <a:pPr marL="12700" marR="5080">
              <a:lnSpc>
                <a:spcPct val="108300"/>
              </a:lnSpc>
            </a:pPr>
            <a:r>
              <a:rPr sz="1000" spc="-65" dirty="0">
                <a:solidFill>
                  <a:srgbClr val="000000"/>
                </a:solidFill>
              </a:rPr>
              <a:t>Overview</a:t>
            </a:r>
            <a:r>
              <a:rPr sz="1000" spc="-45" dirty="0">
                <a:solidFill>
                  <a:srgbClr val="000000"/>
                </a:solidFill>
              </a:rPr>
              <a:t> </a:t>
            </a:r>
            <a:r>
              <a:rPr sz="1000" spc="-55" dirty="0">
                <a:solidFill>
                  <a:srgbClr val="000000"/>
                </a:solidFill>
              </a:rPr>
              <a:t>of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65" dirty="0">
                <a:solidFill>
                  <a:srgbClr val="000000"/>
                </a:solidFill>
              </a:rPr>
              <a:t>the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75" dirty="0">
                <a:solidFill>
                  <a:srgbClr val="000000"/>
                </a:solidFill>
              </a:rPr>
              <a:t>architecture.</a:t>
            </a:r>
            <a:r>
              <a:rPr sz="1000" spc="-95" dirty="0">
                <a:solidFill>
                  <a:srgbClr val="000000"/>
                </a:solidFill>
              </a:rPr>
              <a:t> </a:t>
            </a:r>
            <a:r>
              <a:rPr sz="1000" spc="-45" dirty="0">
                <a:solidFill>
                  <a:srgbClr val="000000"/>
                </a:solidFill>
              </a:rPr>
              <a:t>Include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65" dirty="0">
                <a:solidFill>
                  <a:srgbClr val="000000"/>
                </a:solidFill>
              </a:rPr>
              <a:t>the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50" dirty="0">
                <a:solidFill>
                  <a:srgbClr val="000000"/>
                </a:solidFill>
              </a:rPr>
              <a:t>flow</a:t>
            </a:r>
            <a:r>
              <a:rPr sz="1000" spc="-40" dirty="0">
                <a:solidFill>
                  <a:srgbClr val="000000"/>
                </a:solidFill>
              </a:rPr>
              <a:t> </a:t>
            </a:r>
            <a:r>
              <a:rPr sz="1000" spc="-55" dirty="0">
                <a:solidFill>
                  <a:srgbClr val="000000"/>
                </a:solidFill>
              </a:rPr>
              <a:t>chart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40" dirty="0">
                <a:solidFill>
                  <a:srgbClr val="000000"/>
                </a:solidFill>
              </a:rPr>
              <a:t>diagram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65" dirty="0">
                <a:solidFill>
                  <a:srgbClr val="000000"/>
                </a:solidFill>
              </a:rPr>
              <a:t>created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75" dirty="0">
                <a:solidFill>
                  <a:srgbClr val="000000"/>
                </a:solidFill>
              </a:rPr>
              <a:t>earlier.</a:t>
            </a:r>
            <a:r>
              <a:rPr sz="1000" spc="-130" dirty="0">
                <a:solidFill>
                  <a:srgbClr val="000000"/>
                </a:solidFill>
              </a:rPr>
              <a:t> </a:t>
            </a:r>
            <a:r>
              <a:rPr sz="1000" spc="-40" dirty="0">
                <a:solidFill>
                  <a:srgbClr val="000000"/>
                </a:solidFill>
              </a:rPr>
              <a:t>Visual:</a:t>
            </a:r>
            <a:r>
              <a:rPr sz="1000" spc="-10" dirty="0">
                <a:solidFill>
                  <a:srgbClr val="000000"/>
                </a:solidFill>
              </a:rPr>
              <a:t> Diagrams </a:t>
            </a:r>
            <a:r>
              <a:rPr sz="1000" spc="-60" dirty="0">
                <a:solidFill>
                  <a:srgbClr val="000000"/>
                </a:solidFill>
              </a:rPr>
              <a:t>or</a:t>
            </a:r>
            <a:r>
              <a:rPr sz="1000" spc="10" dirty="0">
                <a:solidFill>
                  <a:srgbClr val="000000"/>
                </a:solidFill>
              </a:rPr>
              <a:t> </a:t>
            </a:r>
            <a:r>
              <a:rPr sz="1000" spc="-70" dirty="0">
                <a:solidFill>
                  <a:srgbClr val="000000"/>
                </a:solidFill>
              </a:rPr>
              <a:t>architecture</a:t>
            </a:r>
            <a:r>
              <a:rPr sz="1000" spc="-1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visuals.</a:t>
            </a:r>
            <a:endParaRPr sz="1000"/>
          </a:p>
        </p:txBody>
      </p:sp>
      <p:grpSp>
        <p:nvGrpSpPr>
          <p:cNvPr id="4" name="object 4"/>
          <p:cNvGrpSpPr/>
          <p:nvPr/>
        </p:nvGrpSpPr>
        <p:grpSpPr>
          <a:xfrm>
            <a:off x="431037" y="1395869"/>
            <a:ext cx="1252855" cy="838835"/>
            <a:chOff x="431037" y="1395869"/>
            <a:chExt cx="1252855" cy="8388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037" y="1395869"/>
              <a:ext cx="1252474" cy="8387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5487" y="1417319"/>
              <a:ext cx="1163955" cy="749935"/>
            </a:xfrm>
            <a:custGeom>
              <a:avLst/>
              <a:gdLst/>
              <a:ahLst/>
              <a:cxnLst/>
              <a:rect l="l" t="t" r="r" b="b"/>
              <a:pathLst>
                <a:path w="1163955" h="749935">
                  <a:moveTo>
                    <a:pt x="1038603" y="0"/>
                  </a:moveTo>
                  <a:lnTo>
                    <a:pt x="124970" y="0"/>
                  </a:lnTo>
                  <a:lnTo>
                    <a:pt x="76326" y="9820"/>
                  </a:lnTo>
                  <a:lnTo>
                    <a:pt x="36602" y="36602"/>
                  </a:lnTo>
                  <a:lnTo>
                    <a:pt x="9820" y="76326"/>
                  </a:lnTo>
                  <a:lnTo>
                    <a:pt x="0" y="124970"/>
                  </a:lnTo>
                  <a:lnTo>
                    <a:pt x="0" y="624837"/>
                  </a:lnTo>
                  <a:lnTo>
                    <a:pt x="9820" y="673481"/>
                  </a:lnTo>
                  <a:lnTo>
                    <a:pt x="36602" y="713204"/>
                  </a:lnTo>
                  <a:lnTo>
                    <a:pt x="76326" y="739987"/>
                  </a:lnTo>
                  <a:lnTo>
                    <a:pt x="124970" y="749808"/>
                  </a:lnTo>
                  <a:lnTo>
                    <a:pt x="1038603" y="749808"/>
                  </a:lnTo>
                  <a:lnTo>
                    <a:pt x="1087247" y="739987"/>
                  </a:lnTo>
                  <a:lnTo>
                    <a:pt x="1126971" y="713204"/>
                  </a:lnTo>
                  <a:lnTo>
                    <a:pt x="1153753" y="673481"/>
                  </a:lnTo>
                  <a:lnTo>
                    <a:pt x="1163574" y="624837"/>
                  </a:lnTo>
                  <a:lnTo>
                    <a:pt x="1163574" y="124970"/>
                  </a:lnTo>
                  <a:lnTo>
                    <a:pt x="1153753" y="76326"/>
                  </a:lnTo>
                  <a:lnTo>
                    <a:pt x="1126971" y="36602"/>
                  </a:lnTo>
                  <a:lnTo>
                    <a:pt x="1087247" y="9820"/>
                  </a:lnTo>
                  <a:lnTo>
                    <a:pt x="1038603" y="0"/>
                  </a:lnTo>
                  <a:close/>
                </a:path>
              </a:pathLst>
            </a:custGeom>
            <a:solidFill>
              <a:srgbClr val="E8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487" y="1417319"/>
              <a:ext cx="1163955" cy="749935"/>
            </a:xfrm>
            <a:custGeom>
              <a:avLst/>
              <a:gdLst/>
              <a:ahLst/>
              <a:cxnLst/>
              <a:rect l="l" t="t" r="r" b="b"/>
              <a:pathLst>
                <a:path w="1163955" h="749935">
                  <a:moveTo>
                    <a:pt x="124970" y="0"/>
                  </a:moveTo>
                  <a:lnTo>
                    <a:pt x="1038603" y="0"/>
                  </a:lnTo>
                  <a:lnTo>
                    <a:pt x="1087247" y="9820"/>
                  </a:lnTo>
                  <a:lnTo>
                    <a:pt x="1126971" y="36603"/>
                  </a:lnTo>
                  <a:lnTo>
                    <a:pt x="1153753" y="76326"/>
                  </a:lnTo>
                  <a:lnTo>
                    <a:pt x="1163574" y="124970"/>
                  </a:lnTo>
                  <a:lnTo>
                    <a:pt x="1163574" y="624837"/>
                  </a:lnTo>
                  <a:lnTo>
                    <a:pt x="1153753" y="673481"/>
                  </a:lnTo>
                  <a:lnTo>
                    <a:pt x="1126971" y="713204"/>
                  </a:lnTo>
                  <a:lnTo>
                    <a:pt x="1087247" y="739987"/>
                  </a:lnTo>
                  <a:lnTo>
                    <a:pt x="1038603" y="749808"/>
                  </a:lnTo>
                  <a:lnTo>
                    <a:pt x="124970" y="749808"/>
                  </a:lnTo>
                  <a:lnTo>
                    <a:pt x="76326" y="739987"/>
                  </a:lnTo>
                  <a:lnTo>
                    <a:pt x="36603" y="713204"/>
                  </a:lnTo>
                  <a:lnTo>
                    <a:pt x="9820" y="673481"/>
                  </a:lnTo>
                  <a:lnTo>
                    <a:pt x="0" y="624837"/>
                  </a:lnTo>
                  <a:lnTo>
                    <a:pt x="0" y="124970"/>
                  </a:lnTo>
                  <a:lnTo>
                    <a:pt x="9820" y="76326"/>
                  </a:lnTo>
                  <a:lnTo>
                    <a:pt x="36603" y="36603"/>
                  </a:lnTo>
                  <a:lnTo>
                    <a:pt x="76326" y="9820"/>
                  </a:lnTo>
                  <a:lnTo>
                    <a:pt x="124970" y="0"/>
                  </a:lnTo>
                  <a:close/>
                </a:path>
              </a:pathLst>
            </a:custGeom>
            <a:ln w="1270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0199" y="1643837"/>
            <a:ext cx="85471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09855">
              <a:lnSpc>
                <a:spcPct val="104200"/>
              </a:lnSpc>
              <a:spcBef>
                <a:spcPts val="60"/>
              </a:spcBef>
            </a:pPr>
            <a:r>
              <a:rPr sz="800" b="1" spc="-75" dirty="0">
                <a:solidFill>
                  <a:srgbClr val="262D36"/>
                </a:solidFill>
                <a:latin typeface="Trebuchet MS"/>
                <a:cs typeface="Trebuchet MS"/>
              </a:rPr>
              <a:t>1.</a:t>
            </a:r>
            <a:r>
              <a:rPr sz="800" b="1" spc="-114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65" dirty="0">
                <a:solidFill>
                  <a:srgbClr val="262D36"/>
                </a:solidFill>
                <a:latin typeface="Trebuchet MS"/>
                <a:cs typeface="Trebuchet MS"/>
              </a:rPr>
              <a:t>Test</a:t>
            </a:r>
            <a:r>
              <a:rPr sz="800" b="1" spc="-2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10" dirty="0">
                <a:solidFill>
                  <a:srgbClr val="262D36"/>
                </a:solidFill>
                <a:latin typeface="Trebuchet MS"/>
                <a:cs typeface="Trebuchet MS"/>
              </a:rPr>
              <a:t>activity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normal</a:t>
            </a:r>
            <a:r>
              <a:rPr sz="800" b="1" spc="-2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dirty="0">
                <a:solidFill>
                  <a:srgbClr val="262D36"/>
                </a:solidFill>
                <a:latin typeface="Trebuchet MS"/>
                <a:cs typeface="Trebuchet MS"/>
              </a:rPr>
              <a:t>/</a:t>
            </a:r>
            <a:r>
              <a:rPr sz="800" b="1" spc="-2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simulated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00961" y="1395869"/>
            <a:ext cx="1410970" cy="838835"/>
            <a:chOff x="1600961" y="1395869"/>
            <a:chExt cx="1410970" cy="8388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0961" y="1764598"/>
              <a:ext cx="240792" cy="952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39061" y="1792223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905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9203" y="1395869"/>
              <a:ext cx="1252474" cy="8387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03653" y="1417319"/>
              <a:ext cx="1163955" cy="749935"/>
            </a:xfrm>
            <a:custGeom>
              <a:avLst/>
              <a:gdLst/>
              <a:ahLst/>
              <a:cxnLst/>
              <a:rect l="l" t="t" r="r" b="b"/>
              <a:pathLst>
                <a:path w="1163955" h="749935">
                  <a:moveTo>
                    <a:pt x="1038603" y="0"/>
                  </a:moveTo>
                  <a:lnTo>
                    <a:pt x="124970" y="0"/>
                  </a:lnTo>
                  <a:lnTo>
                    <a:pt x="76326" y="9820"/>
                  </a:lnTo>
                  <a:lnTo>
                    <a:pt x="36602" y="36602"/>
                  </a:lnTo>
                  <a:lnTo>
                    <a:pt x="9820" y="76326"/>
                  </a:lnTo>
                  <a:lnTo>
                    <a:pt x="0" y="124970"/>
                  </a:lnTo>
                  <a:lnTo>
                    <a:pt x="0" y="624837"/>
                  </a:lnTo>
                  <a:lnTo>
                    <a:pt x="9820" y="673481"/>
                  </a:lnTo>
                  <a:lnTo>
                    <a:pt x="36602" y="713204"/>
                  </a:lnTo>
                  <a:lnTo>
                    <a:pt x="76326" y="739987"/>
                  </a:lnTo>
                  <a:lnTo>
                    <a:pt x="124970" y="749808"/>
                  </a:lnTo>
                  <a:lnTo>
                    <a:pt x="1038603" y="749808"/>
                  </a:lnTo>
                  <a:lnTo>
                    <a:pt x="1087247" y="739987"/>
                  </a:lnTo>
                  <a:lnTo>
                    <a:pt x="1126971" y="713204"/>
                  </a:lnTo>
                  <a:lnTo>
                    <a:pt x="1153753" y="673481"/>
                  </a:lnTo>
                  <a:lnTo>
                    <a:pt x="1163573" y="624837"/>
                  </a:lnTo>
                  <a:lnTo>
                    <a:pt x="1163573" y="124970"/>
                  </a:lnTo>
                  <a:lnTo>
                    <a:pt x="1153753" y="76326"/>
                  </a:lnTo>
                  <a:lnTo>
                    <a:pt x="1126971" y="36602"/>
                  </a:lnTo>
                  <a:lnTo>
                    <a:pt x="1087247" y="9820"/>
                  </a:lnTo>
                  <a:lnTo>
                    <a:pt x="1038603" y="0"/>
                  </a:lnTo>
                  <a:close/>
                </a:path>
              </a:pathLst>
            </a:custGeom>
            <a:solidFill>
              <a:srgbClr val="F5F8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03653" y="1417319"/>
              <a:ext cx="1163955" cy="749935"/>
            </a:xfrm>
            <a:custGeom>
              <a:avLst/>
              <a:gdLst/>
              <a:ahLst/>
              <a:cxnLst/>
              <a:rect l="l" t="t" r="r" b="b"/>
              <a:pathLst>
                <a:path w="1163955" h="749935">
                  <a:moveTo>
                    <a:pt x="124970" y="0"/>
                  </a:moveTo>
                  <a:lnTo>
                    <a:pt x="1038603" y="0"/>
                  </a:lnTo>
                  <a:lnTo>
                    <a:pt x="1087247" y="9820"/>
                  </a:lnTo>
                  <a:lnTo>
                    <a:pt x="1126971" y="36603"/>
                  </a:lnTo>
                  <a:lnTo>
                    <a:pt x="1153753" y="76326"/>
                  </a:lnTo>
                  <a:lnTo>
                    <a:pt x="1163574" y="124970"/>
                  </a:lnTo>
                  <a:lnTo>
                    <a:pt x="1163574" y="624837"/>
                  </a:lnTo>
                  <a:lnTo>
                    <a:pt x="1153753" y="673481"/>
                  </a:lnTo>
                  <a:lnTo>
                    <a:pt x="1126971" y="713204"/>
                  </a:lnTo>
                  <a:lnTo>
                    <a:pt x="1087247" y="739987"/>
                  </a:lnTo>
                  <a:lnTo>
                    <a:pt x="1038603" y="749808"/>
                  </a:lnTo>
                  <a:lnTo>
                    <a:pt x="124970" y="749808"/>
                  </a:lnTo>
                  <a:lnTo>
                    <a:pt x="76326" y="739987"/>
                  </a:lnTo>
                  <a:lnTo>
                    <a:pt x="36603" y="713204"/>
                  </a:lnTo>
                  <a:lnTo>
                    <a:pt x="9820" y="673481"/>
                  </a:lnTo>
                  <a:lnTo>
                    <a:pt x="0" y="624837"/>
                  </a:lnTo>
                  <a:lnTo>
                    <a:pt x="0" y="124970"/>
                  </a:lnTo>
                  <a:lnTo>
                    <a:pt x="9820" y="76326"/>
                  </a:lnTo>
                  <a:lnTo>
                    <a:pt x="36603" y="36603"/>
                  </a:lnTo>
                  <a:lnTo>
                    <a:pt x="76326" y="9820"/>
                  </a:lnTo>
                  <a:lnTo>
                    <a:pt x="124970" y="0"/>
                  </a:lnTo>
                  <a:close/>
                </a:path>
              </a:pathLst>
            </a:custGeom>
            <a:ln w="1270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994636" y="1643837"/>
            <a:ext cx="78168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4445">
              <a:lnSpc>
                <a:spcPct val="104200"/>
              </a:lnSpc>
              <a:spcBef>
                <a:spcPts val="60"/>
              </a:spcBef>
            </a:pPr>
            <a:r>
              <a:rPr sz="800" b="1" spc="-75" dirty="0">
                <a:solidFill>
                  <a:srgbClr val="262D36"/>
                </a:solidFill>
                <a:latin typeface="Trebuchet MS"/>
                <a:cs typeface="Trebuchet MS"/>
              </a:rPr>
              <a:t>2.</a:t>
            </a:r>
            <a:r>
              <a:rPr sz="800" b="1" spc="-8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50" dirty="0">
                <a:solidFill>
                  <a:srgbClr val="262D36"/>
                </a:solidFill>
                <a:latin typeface="Trebuchet MS"/>
                <a:cs typeface="Trebuchet MS"/>
              </a:rPr>
              <a:t>Event</a:t>
            </a:r>
            <a:r>
              <a:rPr sz="800" b="1" spc="-1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collector</a:t>
            </a:r>
            <a:r>
              <a:rPr sz="800" b="1" spc="50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50" dirty="0">
                <a:solidFill>
                  <a:srgbClr val="262D36"/>
                </a:solidFill>
                <a:latin typeface="Trebuchet MS"/>
                <a:cs typeface="Trebuchet MS"/>
              </a:rPr>
              <a:t>permitted</a:t>
            </a:r>
            <a:r>
              <a:rPr sz="800" b="1" spc="1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20" dirty="0">
                <a:solidFill>
                  <a:srgbClr val="262D36"/>
                </a:solidFill>
                <a:latin typeface="Trebuchet MS"/>
                <a:cs typeface="Trebuchet MS"/>
              </a:rPr>
              <a:t>signals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29127" y="1395869"/>
            <a:ext cx="1410970" cy="838835"/>
            <a:chOff x="2929127" y="1395869"/>
            <a:chExt cx="1410970" cy="83883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9127" y="1764598"/>
              <a:ext cx="240792" cy="952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967227" y="1792223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905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7369" y="1395869"/>
              <a:ext cx="1252474" cy="83870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31819" y="1417319"/>
              <a:ext cx="1163955" cy="749935"/>
            </a:xfrm>
            <a:custGeom>
              <a:avLst/>
              <a:gdLst/>
              <a:ahLst/>
              <a:cxnLst/>
              <a:rect l="l" t="t" r="r" b="b"/>
              <a:pathLst>
                <a:path w="1163954" h="749935">
                  <a:moveTo>
                    <a:pt x="1038603" y="0"/>
                  </a:moveTo>
                  <a:lnTo>
                    <a:pt x="124970" y="0"/>
                  </a:lnTo>
                  <a:lnTo>
                    <a:pt x="76326" y="9820"/>
                  </a:lnTo>
                  <a:lnTo>
                    <a:pt x="36602" y="36602"/>
                  </a:lnTo>
                  <a:lnTo>
                    <a:pt x="9820" y="76326"/>
                  </a:lnTo>
                  <a:lnTo>
                    <a:pt x="0" y="124970"/>
                  </a:lnTo>
                  <a:lnTo>
                    <a:pt x="0" y="624837"/>
                  </a:lnTo>
                  <a:lnTo>
                    <a:pt x="9820" y="673481"/>
                  </a:lnTo>
                  <a:lnTo>
                    <a:pt x="36602" y="713204"/>
                  </a:lnTo>
                  <a:lnTo>
                    <a:pt x="76326" y="739987"/>
                  </a:lnTo>
                  <a:lnTo>
                    <a:pt x="124970" y="749808"/>
                  </a:lnTo>
                  <a:lnTo>
                    <a:pt x="1038603" y="749808"/>
                  </a:lnTo>
                  <a:lnTo>
                    <a:pt x="1087247" y="739987"/>
                  </a:lnTo>
                  <a:lnTo>
                    <a:pt x="1126971" y="713204"/>
                  </a:lnTo>
                  <a:lnTo>
                    <a:pt x="1153753" y="673481"/>
                  </a:lnTo>
                  <a:lnTo>
                    <a:pt x="1163574" y="624837"/>
                  </a:lnTo>
                  <a:lnTo>
                    <a:pt x="1163574" y="124970"/>
                  </a:lnTo>
                  <a:lnTo>
                    <a:pt x="1153753" y="76326"/>
                  </a:lnTo>
                  <a:lnTo>
                    <a:pt x="1126971" y="36602"/>
                  </a:lnTo>
                  <a:lnTo>
                    <a:pt x="1087247" y="9820"/>
                  </a:lnTo>
                  <a:lnTo>
                    <a:pt x="1038603" y="0"/>
                  </a:lnTo>
                  <a:close/>
                </a:path>
              </a:pathLst>
            </a:custGeom>
            <a:solidFill>
              <a:srgbClr val="FFF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31819" y="1417319"/>
              <a:ext cx="1163955" cy="749935"/>
            </a:xfrm>
            <a:custGeom>
              <a:avLst/>
              <a:gdLst/>
              <a:ahLst/>
              <a:cxnLst/>
              <a:rect l="l" t="t" r="r" b="b"/>
              <a:pathLst>
                <a:path w="1163954" h="749935">
                  <a:moveTo>
                    <a:pt x="124970" y="0"/>
                  </a:moveTo>
                  <a:lnTo>
                    <a:pt x="1038603" y="0"/>
                  </a:lnTo>
                  <a:lnTo>
                    <a:pt x="1087247" y="9820"/>
                  </a:lnTo>
                  <a:lnTo>
                    <a:pt x="1126971" y="36603"/>
                  </a:lnTo>
                  <a:lnTo>
                    <a:pt x="1153753" y="76326"/>
                  </a:lnTo>
                  <a:lnTo>
                    <a:pt x="1163574" y="124970"/>
                  </a:lnTo>
                  <a:lnTo>
                    <a:pt x="1163574" y="624837"/>
                  </a:lnTo>
                  <a:lnTo>
                    <a:pt x="1153753" y="673481"/>
                  </a:lnTo>
                  <a:lnTo>
                    <a:pt x="1126971" y="713204"/>
                  </a:lnTo>
                  <a:lnTo>
                    <a:pt x="1087247" y="739987"/>
                  </a:lnTo>
                  <a:lnTo>
                    <a:pt x="1038603" y="749808"/>
                  </a:lnTo>
                  <a:lnTo>
                    <a:pt x="124970" y="749808"/>
                  </a:lnTo>
                  <a:lnTo>
                    <a:pt x="76326" y="739987"/>
                  </a:lnTo>
                  <a:lnTo>
                    <a:pt x="36603" y="713204"/>
                  </a:lnTo>
                  <a:lnTo>
                    <a:pt x="9820" y="673481"/>
                  </a:lnTo>
                  <a:lnTo>
                    <a:pt x="0" y="624837"/>
                  </a:lnTo>
                  <a:lnTo>
                    <a:pt x="0" y="124970"/>
                  </a:lnTo>
                  <a:lnTo>
                    <a:pt x="9820" y="76326"/>
                  </a:lnTo>
                  <a:lnTo>
                    <a:pt x="36603" y="36603"/>
                  </a:lnTo>
                  <a:lnTo>
                    <a:pt x="76326" y="9820"/>
                  </a:lnTo>
                  <a:lnTo>
                    <a:pt x="124970" y="0"/>
                  </a:lnTo>
                  <a:close/>
                </a:path>
              </a:pathLst>
            </a:custGeom>
            <a:ln w="1270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63899" y="1643837"/>
            <a:ext cx="69977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36195">
              <a:lnSpc>
                <a:spcPct val="104200"/>
              </a:lnSpc>
              <a:spcBef>
                <a:spcPts val="60"/>
              </a:spcBef>
            </a:pPr>
            <a:r>
              <a:rPr sz="800" b="1" spc="-75" dirty="0">
                <a:solidFill>
                  <a:srgbClr val="262D36"/>
                </a:solidFill>
                <a:latin typeface="Trebuchet MS"/>
                <a:cs typeface="Trebuchet MS"/>
              </a:rPr>
              <a:t>3. </a:t>
            </a:r>
            <a:r>
              <a:rPr sz="800" b="1" spc="-30" dirty="0">
                <a:solidFill>
                  <a:srgbClr val="262D36"/>
                </a:solidFill>
                <a:latin typeface="Trebuchet MS"/>
                <a:cs typeface="Trebuchet MS"/>
              </a:rPr>
              <a:t>Risk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10" dirty="0">
                <a:solidFill>
                  <a:srgbClr val="262D36"/>
                </a:solidFill>
                <a:latin typeface="Trebuchet MS"/>
                <a:cs typeface="Trebuchet MS"/>
              </a:rPr>
              <a:t>engine </a:t>
            </a:r>
            <a:r>
              <a:rPr sz="800" b="1" spc="-50" dirty="0">
                <a:solidFill>
                  <a:srgbClr val="262D36"/>
                </a:solidFill>
                <a:latin typeface="Trebuchet MS"/>
                <a:cs typeface="Trebuchet MS"/>
              </a:rPr>
              <a:t>features</a:t>
            </a:r>
            <a:r>
              <a:rPr sz="800" b="1" spc="-2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65" dirty="0">
                <a:solidFill>
                  <a:srgbClr val="262D36"/>
                </a:solidFill>
                <a:latin typeface="Trebuchet MS"/>
                <a:cs typeface="Trebuchet MS"/>
              </a:rPr>
              <a:t>+</a:t>
            </a:r>
            <a:r>
              <a:rPr sz="800" b="1" spc="-15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rules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57294" y="1395869"/>
            <a:ext cx="1410970" cy="838835"/>
            <a:chOff x="4257294" y="1395869"/>
            <a:chExt cx="1410970" cy="83883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294" y="1764598"/>
              <a:ext cx="240791" cy="9525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95394" y="1792223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905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5536" y="1395869"/>
              <a:ext cx="1252474" cy="83870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459986" y="1417319"/>
              <a:ext cx="1163955" cy="749935"/>
            </a:xfrm>
            <a:custGeom>
              <a:avLst/>
              <a:gdLst/>
              <a:ahLst/>
              <a:cxnLst/>
              <a:rect l="l" t="t" r="r" b="b"/>
              <a:pathLst>
                <a:path w="1163954" h="749935">
                  <a:moveTo>
                    <a:pt x="1038603" y="0"/>
                  </a:moveTo>
                  <a:lnTo>
                    <a:pt x="124970" y="0"/>
                  </a:lnTo>
                  <a:lnTo>
                    <a:pt x="76326" y="9820"/>
                  </a:lnTo>
                  <a:lnTo>
                    <a:pt x="36602" y="36602"/>
                  </a:lnTo>
                  <a:lnTo>
                    <a:pt x="9820" y="76326"/>
                  </a:lnTo>
                  <a:lnTo>
                    <a:pt x="0" y="124970"/>
                  </a:lnTo>
                  <a:lnTo>
                    <a:pt x="0" y="624837"/>
                  </a:lnTo>
                  <a:lnTo>
                    <a:pt x="9820" y="673481"/>
                  </a:lnTo>
                  <a:lnTo>
                    <a:pt x="36602" y="713204"/>
                  </a:lnTo>
                  <a:lnTo>
                    <a:pt x="76326" y="739987"/>
                  </a:lnTo>
                  <a:lnTo>
                    <a:pt x="124970" y="749808"/>
                  </a:lnTo>
                  <a:lnTo>
                    <a:pt x="1038603" y="749808"/>
                  </a:lnTo>
                  <a:lnTo>
                    <a:pt x="1087247" y="739987"/>
                  </a:lnTo>
                  <a:lnTo>
                    <a:pt x="1126971" y="713204"/>
                  </a:lnTo>
                  <a:lnTo>
                    <a:pt x="1153753" y="673481"/>
                  </a:lnTo>
                  <a:lnTo>
                    <a:pt x="1163574" y="624837"/>
                  </a:lnTo>
                  <a:lnTo>
                    <a:pt x="1163574" y="124970"/>
                  </a:lnTo>
                  <a:lnTo>
                    <a:pt x="1153753" y="76326"/>
                  </a:lnTo>
                  <a:lnTo>
                    <a:pt x="1126971" y="36602"/>
                  </a:lnTo>
                  <a:lnTo>
                    <a:pt x="1087247" y="9820"/>
                  </a:lnTo>
                  <a:lnTo>
                    <a:pt x="1038603" y="0"/>
                  </a:lnTo>
                  <a:close/>
                </a:path>
              </a:pathLst>
            </a:custGeom>
            <a:solidFill>
              <a:srgbClr val="E1F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59986" y="1417319"/>
              <a:ext cx="1163955" cy="749935"/>
            </a:xfrm>
            <a:custGeom>
              <a:avLst/>
              <a:gdLst/>
              <a:ahLst/>
              <a:cxnLst/>
              <a:rect l="l" t="t" r="r" b="b"/>
              <a:pathLst>
                <a:path w="1163954" h="749935">
                  <a:moveTo>
                    <a:pt x="124970" y="0"/>
                  </a:moveTo>
                  <a:lnTo>
                    <a:pt x="1038603" y="0"/>
                  </a:lnTo>
                  <a:lnTo>
                    <a:pt x="1087247" y="9820"/>
                  </a:lnTo>
                  <a:lnTo>
                    <a:pt x="1126971" y="36603"/>
                  </a:lnTo>
                  <a:lnTo>
                    <a:pt x="1153753" y="76326"/>
                  </a:lnTo>
                  <a:lnTo>
                    <a:pt x="1163574" y="124970"/>
                  </a:lnTo>
                  <a:lnTo>
                    <a:pt x="1163574" y="624837"/>
                  </a:lnTo>
                  <a:lnTo>
                    <a:pt x="1153753" y="673481"/>
                  </a:lnTo>
                  <a:lnTo>
                    <a:pt x="1126971" y="713204"/>
                  </a:lnTo>
                  <a:lnTo>
                    <a:pt x="1087247" y="739987"/>
                  </a:lnTo>
                  <a:lnTo>
                    <a:pt x="1038603" y="749808"/>
                  </a:lnTo>
                  <a:lnTo>
                    <a:pt x="124970" y="749808"/>
                  </a:lnTo>
                  <a:lnTo>
                    <a:pt x="76326" y="739987"/>
                  </a:lnTo>
                  <a:lnTo>
                    <a:pt x="36603" y="713204"/>
                  </a:lnTo>
                  <a:lnTo>
                    <a:pt x="9820" y="673481"/>
                  </a:lnTo>
                  <a:lnTo>
                    <a:pt x="0" y="624837"/>
                  </a:lnTo>
                  <a:lnTo>
                    <a:pt x="0" y="124970"/>
                  </a:lnTo>
                  <a:lnTo>
                    <a:pt x="9820" y="76326"/>
                  </a:lnTo>
                  <a:lnTo>
                    <a:pt x="36603" y="36603"/>
                  </a:lnTo>
                  <a:lnTo>
                    <a:pt x="76326" y="9820"/>
                  </a:lnTo>
                  <a:lnTo>
                    <a:pt x="124970" y="0"/>
                  </a:lnTo>
                  <a:close/>
                </a:path>
              </a:pathLst>
            </a:custGeom>
            <a:ln w="12700">
              <a:solidFill>
                <a:srgbClr val="3D70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696434" y="1643837"/>
            <a:ext cx="69088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38735">
              <a:lnSpc>
                <a:spcPct val="104200"/>
              </a:lnSpc>
              <a:spcBef>
                <a:spcPts val="60"/>
              </a:spcBef>
            </a:pPr>
            <a:r>
              <a:rPr sz="800" b="1" spc="-75" dirty="0">
                <a:solidFill>
                  <a:srgbClr val="262D36"/>
                </a:solidFill>
                <a:latin typeface="Trebuchet MS"/>
                <a:cs typeface="Trebuchet MS"/>
              </a:rPr>
              <a:t>4.</a:t>
            </a:r>
            <a:r>
              <a:rPr sz="800" b="1" spc="-12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Alert</a:t>
            </a:r>
            <a:r>
              <a:rPr sz="800" b="1" spc="-2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80" dirty="0">
                <a:solidFill>
                  <a:srgbClr val="262D36"/>
                </a:solidFill>
                <a:latin typeface="Trebuchet MS"/>
                <a:cs typeface="Trebuchet MS"/>
              </a:rPr>
              <a:t>&amp;</a:t>
            </a:r>
            <a:r>
              <a:rPr sz="800" b="1" spc="-2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25" dirty="0">
                <a:solidFill>
                  <a:srgbClr val="262D36"/>
                </a:solidFill>
                <a:latin typeface="Trebuchet MS"/>
                <a:cs typeface="Trebuchet MS"/>
              </a:rPr>
              <a:t>log </a:t>
            </a:r>
            <a:r>
              <a:rPr sz="800" b="1" spc="-50" dirty="0">
                <a:solidFill>
                  <a:srgbClr val="262D36"/>
                </a:solidFill>
                <a:latin typeface="Trebuchet MS"/>
                <a:cs typeface="Trebuchet MS"/>
              </a:rPr>
              <a:t>score</a:t>
            </a:r>
            <a:r>
              <a:rPr sz="800" b="1" spc="-3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65" dirty="0">
                <a:solidFill>
                  <a:srgbClr val="262D36"/>
                </a:solidFill>
                <a:latin typeface="Trebuchet MS"/>
                <a:cs typeface="Trebuchet MS"/>
              </a:rPr>
              <a:t>+</a:t>
            </a:r>
            <a:r>
              <a:rPr sz="800" b="1" spc="-30" dirty="0">
                <a:solidFill>
                  <a:srgbClr val="262D36"/>
                </a:solidFill>
                <a:latin typeface="Trebuchet MS"/>
                <a:cs typeface="Trebuchet MS"/>
              </a:rPr>
              <a:t> </a:t>
            </a:r>
            <a:r>
              <a:rPr sz="800" b="1" spc="-40" dirty="0">
                <a:solidFill>
                  <a:srgbClr val="262D36"/>
                </a:solidFill>
                <a:latin typeface="Trebuchet MS"/>
                <a:cs typeface="Trebuchet MS"/>
              </a:rPr>
              <a:t>reasons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3039" y="2386583"/>
            <a:ext cx="491299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5A6470"/>
                </a:solidFill>
                <a:latin typeface="Tahoma"/>
                <a:cs typeface="Tahoma"/>
              </a:rPr>
              <a:t>Validation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35" dirty="0">
                <a:solidFill>
                  <a:srgbClr val="5A6470"/>
                </a:solidFill>
                <a:latin typeface="Tahoma"/>
                <a:cs typeface="Tahoma"/>
              </a:rPr>
              <a:t>feedback: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5A6470"/>
                </a:solidFill>
                <a:latin typeface="Tahoma"/>
                <a:cs typeface="Tahoma"/>
              </a:rPr>
              <a:t>compare</a:t>
            </a:r>
            <a:r>
              <a:rPr sz="800" spc="-15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5A6470"/>
                </a:solidFill>
                <a:latin typeface="Tahoma"/>
                <a:cs typeface="Tahoma"/>
              </a:rPr>
              <a:t>alert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5A6470"/>
                </a:solidFill>
                <a:latin typeface="Tahoma"/>
                <a:cs typeface="Tahoma"/>
              </a:rPr>
              <a:t>logs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5A6470"/>
                </a:solidFill>
                <a:latin typeface="Tahoma"/>
                <a:cs typeface="Tahoma"/>
              </a:rPr>
              <a:t>with</a:t>
            </a:r>
            <a:r>
              <a:rPr sz="800" spc="-15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known </a:t>
            </a:r>
            <a:r>
              <a:rPr sz="800" spc="-10" dirty="0">
                <a:solidFill>
                  <a:srgbClr val="5A6470"/>
                </a:solidFill>
                <a:latin typeface="Tahoma"/>
                <a:cs typeface="Tahoma"/>
              </a:rPr>
              <a:t>test</a:t>
            </a:r>
            <a:r>
              <a:rPr sz="800" spc="-15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5A6470"/>
                </a:solidFill>
                <a:latin typeface="Tahoma"/>
                <a:cs typeface="Tahoma"/>
              </a:rPr>
              <a:t>events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5A6470"/>
                </a:solidFill>
                <a:latin typeface="Tahoma"/>
                <a:cs typeface="Tahoma"/>
              </a:rPr>
              <a:t>to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5A6470"/>
                </a:solidFill>
                <a:latin typeface="Tahoma"/>
                <a:cs typeface="Tahoma"/>
              </a:rPr>
              <a:t>measure</a:t>
            </a:r>
            <a:r>
              <a:rPr sz="800" spc="-15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5A6470"/>
                </a:solidFill>
                <a:latin typeface="Tahoma"/>
                <a:cs typeface="Tahoma"/>
              </a:rPr>
              <a:t>detection,</a:t>
            </a:r>
            <a:r>
              <a:rPr sz="800" spc="-85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5A6470"/>
                </a:solidFill>
                <a:latin typeface="Tahoma"/>
                <a:cs typeface="Tahoma"/>
              </a:rPr>
              <a:t>false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5A6470"/>
                </a:solidFill>
                <a:latin typeface="Tahoma"/>
                <a:cs typeface="Tahoma"/>
              </a:rPr>
              <a:t>positives</a:t>
            </a:r>
            <a:r>
              <a:rPr sz="800" spc="-15" dirty="0">
                <a:solidFill>
                  <a:srgbClr val="5A6470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5A6470"/>
                </a:solidFill>
                <a:latin typeface="Tahoma"/>
                <a:cs typeface="Tahoma"/>
              </a:rPr>
              <a:t>and </a:t>
            </a:r>
            <a:r>
              <a:rPr sz="800" spc="-10" dirty="0">
                <a:solidFill>
                  <a:srgbClr val="5A6470"/>
                </a:solidFill>
                <a:latin typeface="Tahoma"/>
                <a:cs typeface="Tahoma"/>
              </a:rPr>
              <a:t>latency.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i="1" spc="10" dirty="0">
                <a:solidFill>
                  <a:srgbClr val="5A6470"/>
                </a:solidFill>
                <a:latin typeface="Arial Narrow"/>
                <a:cs typeface="Arial Narrow"/>
              </a:rPr>
              <a:t>Figure:</a:t>
            </a:r>
            <a:r>
              <a:rPr sz="800" i="1" spc="170" dirty="0">
                <a:solidFill>
                  <a:srgbClr val="5A6470"/>
                </a:solidFill>
                <a:latin typeface="Arial Narrow"/>
                <a:cs typeface="Arial Narrow"/>
              </a:rPr>
              <a:t> </a:t>
            </a:r>
            <a:r>
              <a:rPr sz="800" i="1" spc="10" dirty="0">
                <a:solidFill>
                  <a:srgbClr val="5A6470"/>
                </a:solidFill>
                <a:latin typeface="Arial Narrow"/>
                <a:cs typeface="Arial Narrow"/>
              </a:rPr>
              <a:t>Data</a:t>
            </a:r>
            <a:r>
              <a:rPr sz="800" i="1" spc="170" dirty="0">
                <a:solidFill>
                  <a:srgbClr val="5A6470"/>
                </a:solidFill>
                <a:latin typeface="Arial Narrow"/>
                <a:cs typeface="Arial Narrow"/>
              </a:rPr>
              <a:t> </a:t>
            </a:r>
            <a:r>
              <a:rPr sz="800" i="1" spc="10" dirty="0">
                <a:solidFill>
                  <a:srgbClr val="5A6470"/>
                </a:solidFill>
                <a:latin typeface="Arial Narrow"/>
                <a:cs typeface="Arial Narrow"/>
              </a:rPr>
              <a:t>Flow</a:t>
            </a:r>
            <a:r>
              <a:rPr sz="800" i="1" spc="140" dirty="0">
                <a:solidFill>
                  <a:srgbClr val="5A6470"/>
                </a:solidFill>
                <a:latin typeface="Arial Narrow"/>
                <a:cs typeface="Arial Narrow"/>
              </a:rPr>
              <a:t> </a:t>
            </a:r>
            <a:r>
              <a:rPr sz="800" i="1" spc="10" dirty="0">
                <a:solidFill>
                  <a:srgbClr val="5A6470"/>
                </a:solidFill>
                <a:latin typeface="Arial Narrow"/>
                <a:cs typeface="Arial Narrow"/>
              </a:rPr>
              <a:t>Diagram</a:t>
            </a:r>
            <a:r>
              <a:rPr sz="800" i="1" spc="170" dirty="0">
                <a:solidFill>
                  <a:srgbClr val="5A6470"/>
                </a:solidFill>
                <a:latin typeface="Arial Narrow"/>
                <a:cs typeface="Arial Narrow"/>
              </a:rPr>
              <a:t> </a:t>
            </a:r>
            <a:r>
              <a:rPr sz="800" i="1" spc="-10" dirty="0">
                <a:solidFill>
                  <a:srgbClr val="5A6470"/>
                </a:solidFill>
                <a:latin typeface="Arial Narrow"/>
                <a:cs typeface="Arial Narrow"/>
              </a:rPr>
              <a:t>(DFD)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xfrm>
            <a:off x="1166199" y="3106721"/>
            <a:ext cx="793117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8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26559"/>
            <a:ext cx="23241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AIOR</a:t>
            </a:r>
            <a:r>
              <a:rPr sz="5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I</a:t>
            </a:r>
            <a:r>
              <a:rPr sz="5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3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3" y="26559"/>
            <a:ext cx="608965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Deploymen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t</a:t>
            </a:r>
            <a:r>
              <a:rPr sz="500" u="sng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 action="ppaction://hlinksldjump"/>
              </a:rPr>
              <a:t>Timeline</a:t>
            </a:r>
            <a:endParaRPr sz="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2" y="188141"/>
            <a:ext cx="16579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5" dirty="0">
                <a:solidFill>
                  <a:srgbClr val="0000DC"/>
                </a:solidFill>
                <a:latin typeface="Trebuchet MS"/>
                <a:cs typeface="Trebuchet MS"/>
              </a:rPr>
              <a:t>Deployment</a:t>
            </a:r>
            <a:r>
              <a:rPr sz="1400" b="1" spc="-50" dirty="0">
                <a:solidFill>
                  <a:srgbClr val="0000DC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0000DC"/>
                </a:solidFill>
                <a:latin typeface="Trebuchet MS"/>
                <a:cs typeface="Trebuchet MS"/>
              </a:rPr>
              <a:t>Timeline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580" y="1050022"/>
            <a:ext cx="4880610" cy="128905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92710" indent="-80010">
              <a:lnSpc>
                <a:spcPct val="100000"/>
              </a:lnSpc>
              <a:spcBef>
                <a:spcPts val="440"/>
              </a:spcBef>
              <a:buChar char="•"/>
              <a:tabLst>
                <a:tab pos="92710" algn="l"/>
              </a:tabLst>
            </a:pP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Milestone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1</a:t>
            </a:r>
            <a:r>
              <a:rPr lang="en-US" sz="800" spc="-8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—</a:t>
            </a:r>
            <a:r>
              <a:rPr lang="en-US" sz="800" spc="-8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Scope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110" dirty="0">
                <a:solidFill>
                  <a:srgbClr val="262D36"/>
                </a:solidFill>
                <a:latin typeface="Tahoma"/>
                <a:cs typeface="Tahoma"/>
              </a:rPr>
              <a:t>&amp;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35" dirty="0">
                <a:solidFill>
                  <a:srgbClr val="262D36"/>
                </a:solidFill>
                <a:latin typeface="Tahoma"/>
                <a:cs typeface="Tahoma"/>
              </a:rPr>
              <a:t>safety: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define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observable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signals,</a:t>
            </a:r>
            <a:r>
              <a:rPr lang="en-US" sz="800" spc="-10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Android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permissions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disposable test files.</a:t>
            </a:r>
            <a:endParaRPr lang="en-US" sz="8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spcBef>
                <a:spcPts val="340"/>
              </a:spcBef>
              <a:buChar char="•"/>
              <a:tabLst>
                <a:tab pos="92710" algn="l"/>
              </a:tabLst>
            </a:pP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Milestone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2</a:t>
            </a:r>
            <a:r>
              <a:rPr lang="en-US" sz="800" spc="-9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—</a:t>
            </a:r>
            <a:r>
              <a:rPr lang="en-US" sz="800" spc="-9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Monitoring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prototype: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capture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permitted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events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and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timestamp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each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operation.</a:t>
            </a:r>
            <a:endParaRPr lang="en-US" sz="8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spcBef>
                <a:spcPts val="340"/>
              </a:spcBef>
              <a:buChar char="•"/>
              <a:tabLst>
                <a:tab pos="92710" algn="l"/>
              </a:tabLst>
            </a:pP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Milestone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3</a:t>
            </a:r>
            <a:r>
              <a:rPr lang="en-US" sz="800" spc="-9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—</a:t>
            </a:r>
            <a:r>
              <a:rPr lang="en-US" sz="800" spc="-9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Detection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engine: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extract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rolling-window</a:t>
            </a:r>
            <a:r>
              <a:rPr lang="en-US" sz="8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30" dirty="0">
                <a:solidFill>
                  <a:srgbClr val="262D36"/>
                </a:solidFill>
                <a:latin typeface="Tahoma"/>
                <a:cs typeface="Tahoma"/>
              </a:rPr>
              <a:t>features;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implement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and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tune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transparent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risk</a:t>
            </a:r>
            <a:r>
              <a:rPr lang="en-US" sz="800" spc="-5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rules.</a:t>
            </a:r>
            <a:endParaRPr lang="en-US" sz="8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spcBef>
                <a:spcPts val="340"/>
              </a:spcBef>
              <a:buChar char="•"/>
              <a:tabLst>
                <a:tab pos="92710" algn="l"/>
              </a:tabLst>
            </a:pP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Milestone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4</a:t>
            </a:r>
            <a:r>
              <a:rPr lang="en-US" sz="800" spc="-9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—</a:t>
            </a:r>
            <a:r>
              <a:rPr lang="en-US" sz="800" spc="-9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Dashboard </a:t>
            </a:r>
            <a:r>
              <a:rPr lang="en-US" sz="800" spc="110" dirty="0">
                <a:solidFill>
                  <a:srgbClr val="262D36"/>
                </a:solidFill>
                <a:latin typeface="Tahoma"/>
                <a:cs typeface="Tahoma"/>
              </a:rPr>
              <a:t>&amp;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alerts: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show</a:t>
            </a:r>
            <a:r>
              <a:rPr lang="en-US" sz="800" spc="-4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risk</a:t>
            </a:r>
            <a:r>
              <a:rPr lang="en-US" sz="8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level,</a:t>
            </a:r>
            <a:r>
              <a:rPr lang="en-US" sz="800" spc="-8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35" dirty="0">
                <a:solidFill>
                  <a:srgbClr val="262D36"/>
                </a:solidFill>
                <a:latin typeface="Tahoma"/>
                <a:cs typeface="Tahoma"/>
              </a:rPr>
              <a:t>reasons,</a:t>
            </a:r>
            <a:r>
              <a:rPr lang="en-US" sz="800" spc="-8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alert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history</a:t>
            </a:r>
            <a:r>
              <a:rPr lang="en-US" sz="800" spc="-5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and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recommended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actions.</a:t>
            </a:r>
            <a:endParaRPr lang="en-US" sz="800">
              <a:latin typeface="Tahoma"/>
              <a:cs typeface="Tahoma"/>
            </a:endParaRPr>
          </a:p>
          <a:p>
            <a:pPr marL="92710" marR="5080" indent="-80645">
              <a:lnSpc>
                <a:spcPct val="104200"/>
              </a:lnSpc>
              <a:spcBef>
                <a:spcPts val="300"/>
              </a:spcBef>
              <a:buChar char="•"/>
              <a:tabLst>
                <a:tab pos="92710" algn="l"/>
              </a:tabLst>
            </a:pP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Milestone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5</a:t>
            </a:r>
            <a:r>
              <a:rPr lang="en-US" sz="800" spc="-8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—</a:t>
            </a:r>
            <a:r>
              <a:rPr lang="en-US" sz="800" spc="-10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Validation: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run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normal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and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simulated </a:t>
            </a:r>
            <a:r>
              <a:rPr lang="en-US" sz="800" spc="-30" dirty="0">
                <a:solidFill>
                  <a:srgbClr val="262D36"/>
                </a:solidFill>
                <a:latin typeface="Tahoma"/>
                <a:cs typeface="Tahoma"/>
              </a:rPr>
              <a:t>tests;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 report detection </a:t>
            </a:r>
            <a:r>
              <a:rPr lang="en-US" sz="800" spc="-40" dirty="0">
                <a:solidFill>
                  <a:srgbClr val="262D36"/>
                </a:solidFill>
                <a:latin typeface="Tahoma"/>
                <a:cs typeface="Tahoma"/>
              </a:rPr>
              <a:t>rate,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false-positive </a:t>
            </a:r>
            <a:r>
              <a:rPr lang="en-US" sz="800" spc="-40" dirty="0">
                <a:solidFill>
                  <a:srgbClr val="262D36"/>
                </a:solidFill>
                <a:latin typeface="Tahoma"/>
                <a:cs typeface="Tahoma"/>
              </a:rPr>
              <a:t>rate,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latency</a:t>
            </a:r>
            <a:r>
              <a:rPr lang="en-US" sz="800" spc="-4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and resource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use.</a:t>
            </a:r>
            <a:endParaRPr lang="en-US" sz="800">
              <a:latin typeface="Tahoma"/>
              <a:cs typeface="Tahoma"/>
            </a:endParaRPr>
          </a:p>
          <a:p>
            <a:pPr marL="92710" marR="91440" indent="-80645">
              <a:lnSpc>
                <a:spcPct val="104200"/>
              </a:lnSpc>
              <a:spcBef>
                <a:spcPts val="445"/>
              </a:spcBef>
              <a:buChar char="•"/>
              <a:tabLst>
                <a:tab pos="92710" algn="l"/>
              </a:tabLst>
            </a:pP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Methodology: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build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Arial Narrow"/>
                <a:cs typeface="Arial Narrow"/>
              </a:rPr>
              <a:t>→</a:t>
            </a:r>
            <a:r>
              <a:rPr lang="en-US" sz="800" spc="55" dirty="0">
                <a:solidFill>
                  <a:srgbClr val="262D36"/>
                </a:solidFill>
                <a:latin typeface="Arial Narrow"/>
                <a:cs typeface="Arial Narrow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test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in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emulator/lab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Arial Narrow"/>
                <a:cs typeface="Arial Narrow"/>
              </a:rPr>
              <a:t>→</a:t>
            </a:r>
            <a:r>
              <a:rPr lang="en-US" sz="800" spc="50" dirty="0">
                <a:solidFill>
                  <a:srgbClr val="262D36"/>
                </a:solidFill>
                <a:latin typeface="Arial Narrow"/>
                <a:cs typeface="Arial Narrow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compare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Tahoma"/>
                <a:cs typeface="Tahoma"/>
              </a:rPr>
              <a:t>logs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Arial Narrow"/>
                <a:cs typeface="Arial Narrow"/>
              </a:rPr>
              <a:t>→</a:t>
            </a:r>
            <a:r>
              <a:rPr lang="en-US" sz="800" spc="55" dirty="0">
                <a:solidFill>
                  <a:srgbClr val="262D36"/>
                </a:solidFill>
                <a:latin typeface="Arial Narrow"/>
                <a:cs typeface="Arial Narrow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tune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thresholds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dirty="0">
                <a:solidFill>
                  <a:srgbClr val="262D36"/>
                </a:solidFill>
                <a:latin typeface="Arial Narrow"/>
                <a:cs typeface="Arial Narrow"/>
              </a:rPr>
              <a:t>→</a:t>
            </a:r>
            <a:r>
              <a:rPr lang="en-US" sz="800" spc="55" dirty="0">
                <a:solidFill>
                  <a:srgbClr val="262D36"/>
                </a:solidFill>
                <a:latin typeface="Arial Narrow"/>
                <a:cs typeface="Arial Narrow"/>
              </a:rPr>
              <a:t>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document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limitations.</a:t>
            </a:r>
            <a:r>
              <a:rPr lang="en-US" sz="800" spc="-80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25" dirty="0">
                <a:solidFill>
                  <a:srgbClr val="262D36"/>
                </a:solidFill>
                <a:latin typeface="Tahoma"/>
                <a:cs typeface="Tahoma"/>
              </a:rPr>
              <a:t>ML </a:t>
            </a:r>
            <a:r>
              <a:rPr lang="en-US" sz="800" spc="-20" dirty="0">
                <a:solidFill>
                  <a:srgbClr val="262D36"/>
                </a:solidFill>
                <a:latin typeface="Tahoma"/>
                <a:cs typeface="Tahoma"/>
              </a:rPr>
              <a:t>remains</a:t>
            </a:r>
            <a:r>
              <a:rPr lang="en-US" sz="800" spc="-15" dirty="0">
                <a:solidFill>
                  <a:srgbClr val="262D36"/>
                </a:solidFill>
                <a:latin typeface="Tahoma"/>
                <a:cs typeface="Tahoma"/>
              </a:rPr>
              <a:t> </a:t>
            </a:r>
            <a:r>
              <a:rPr lang="en-US" sz="800" spc="-10" dirty="0">
                <a:solidFill>
                  <a:srgbClr val="262D36"/>
                </a:solidFill>
                <a:latin typeface="Tahoma"/>
                <a:cs typeface="Tahoma"/>
              </a:rPr>
              <a:t>optional.</a:t>
            </a:r>
            <a:endParaRPr lang="en-US"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4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166199" y="3106721"/>
            <a:ext cx="725216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9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885" y="26559"/>
            <a:ext cx="369570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 action="ppaction://hlinksldjump"/>
              </a:rPr>
              <a:t>Bibliography</a:t>
            </a:r>
            <a:endParaRPr sz="5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88141"/>
            <a:ext cx="1082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Bibliography</a:t>
            </a:r>
            <a:r>
              <a:rPr spc="-30" dirty="0"/>
              <a:t> </a:t>
            </a:r>
            <a:r>
              <a:rPr spc="-50" dirty="0"/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5900" y="562800"/>
            <a:ext cx="12827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262D36"/>
                </a:solidFill>
                <a:latin typeface="Tahoma"/>
                <a:cs typeface="Tahoma"/>
              </a:rPr>
              <a:t>[1]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900" y="965136"/>
            <a:ext cx="12827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262D36"/>
                </a:solidFill>
                <a:latin typeface="Tahoma"/>
                <a:cs typeface="Tahoma"/>
              </a:rPr>
              <a:t>[2]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lang="en-US" spc="-30" dirty="0"/>
              <a:t>MITRE</a:t>
            </a:r>
            <a:r>
              <a:rPr lang="en-US" spc="-20" dirty="0"/>
              <a:t> ATT&amp;CK.</a:t>
            </a:r>
            <a:r>
              <a:rPr lang="en-US" spc="-120" dirty="0"/>
              <a:t> </a:t>
            </a:r>
            <a:r>
              <a:rPr lang="en-US" spc="-20" dirty="0"/>
              <a:t>“Data</a:t>
            </a:r>
            <a:r>
              <a:rPr lang="en-US" spc="5" dirty="0"/>
              <a:t> </a:t>
            </a:r>
            <a:r>
              <a:rPr lang="en-US" spc="-20" dirty="0"/>
              <a:t>Encrypted</a:t>
            </a:r>
            <a:r>
              <a:rPr lang="en-US" spc="5" dirty="0"/>
              <a:t> </a:t>
            </a:r>
            <a:r>
              <a:rPr lang="en-US" spc="-10" dirty="0"/>
              <a:t>for</a:t>
            </a:r>
            <a:r>
              <a:rPr lang="en-US" spc="5" dirty="0"/>
              <a:t> </a:t>
            </a:r>
            <a:r>
              <a:rPr lang="en-US" spc="-35" dirty="0"/>
              <a:t>Impact:</a:t>
            </a:r>
            <a:r>
              <a:rPr lang="en-US" spc="5" dirty="0"/>
              <a:t> </a:t>
            </a:r>
            <a:r>
              <a:rPr lang="en-US" dirty="0"/>
              <a:t>Mobile</a:t>
            </a:r>
            <a:r>
              <a:rPr lang="en-US" spc="5" dirty="0"/>
              <a:t> </a:t>
            </a:r>
            <a:r>
              <a:rPr lang="en-US" spc="-55" dirty="0"/>
              <a:t>(T1471).”</a:t>
            </a:r>
            <a:r>
              <a:rPr lang="en-US" spc="-60" dirty="0"/>
              <a:t> </a:t>
            </a:r>
            <a:r>
              <a:rPr lang="en-US" spc="-10" dirty="0"/>
              <a:t>Detection</a:t>
            </a:r>
            <a:r>
              <a:rPr lang="en-US" spc="5" dirty="0"/>
              <a:t> </a:t>
            </a:r>
            <a:r>
              <a:rPr lang="en-US" spc="-10" dirty="0"/>
              <a:t>and</a:t>
            </a:r>
            <a:r>
              <a:rPr lang="en-US" spc="5" dirty="0"/>
              <a:t> </a:t>
            </a:r>
            <a:r>
              <a:rPr lang="en-US" dirty="0"/>
              <a:t>mitigation</a:t>
            </a:r>
            <a:r>
              <a:rPr lang="en-US" spc="5" dirty="0"/>
              <a:t> </a:t>
            </a:r>
            <a:r>
              <a:rPr lang="en-US" spc="-25" dirty="0"/>
              <a:t>reference.</a:t>
            </a:r>
            <a:r>
              <a:rPr lang="en-US" spc="-60" dirty="0"/>
              <a:t> </a:t>
            </a:r>
            <a:r>
              <a:rPr lang="en-US" spc="-10" dirty="0">
                <a:hlinkClick r:id="rId3"/>
              </a:rPr>
              <a:t>https://attack.mitre.org/techniques/ T1471/</a:t>
            </a:r>
          </a:p>
          <a:p>
            <a:pPr marL="12700" marR="127635">
              <a:lnSpc>
                <a:spcPct val="107100"/>
              </a:lnSpc>
              <a:spcBef>
                <a:spcPts val="400"/>
              </a:spcBef>
            </a:pPr>
            <a:r>
              <a:rPr lang="en-US" spc="-40" dirty="0"/>
              <a:t>N.</a:t>
            </a:r>
            <a:r>
              <a:rPr lang="en-US" spc="-75" dirty="0"/>
              <a:t> </a:t>
            </a:r>
            <a:r>
              <a:rPr lang="en-US" dirty="0"/>
              <a:t>Singh</a:t>
            </a:r>
            <a:r>
              <a:rPr lang="en-US" spc="-5" dirty="0"/>
              <a:t> </a:t>
            </a:r>
            <a:r>
              <a:rPr lang="en-US" spc="-10" dirty="0"/>
              <a:t>and</a:t>
            </a:r>
            <a:r>
              <a:rPr lang="en-US" spc="-5" dirty="0"/>
              <a:t> </a:t>
            </a:r>
            <a:r>
              <a:rPr lang="en-US" spc="-50" dirty="0"/>
              <a:t>S.</a:t>
            </a:r>
            <a:r>
              <a:rPr lang="en-US" spc="-95" dirty="0"/>
              <a:t> </a:t>
            </a:r>
            <a:r>
              <a:rPr lang="en-US" spc="-35" dirty="0"/>
              <a:t>Tripathy.</a:t>
            </a:r>
            <a:r>
              <a:rPr lang="en-US" spc="-120" dirty="0"/>
              <a:t> </a:t>
            </a:r>
            <a:r>
              <a:rPr lang="en-US" spc="-40" dirty="0"/>
              <a:t>“It’s</a:t>
            </a:r>
            <a:r>
              <a:rPr lang="en-US" spc="-10" dirty="0"/>
              <a:t> </a:t>
            </a:r>
            <a:r>
              <a:rPr lang="en-US" dirty="0"/>
              <a:t>too</a:t>
            </a:r>
            <a:r>
              <a:rPr lang="en-US" spc="-5" dirty="0"/>
              <a:t> </a:t>
            </a:r>
            <a:r>
              <a:rPr lang="en-US" dirty="0"/>
              <a:t>late</a:t>
            </a:r>
            <a:r>
              <a:rPr lang="en-US" spc="-10" dirty="0"/>
              <a:t> </a:t>
            </a:r>
            <a:r>
              <a:rPr lang="en-US" dirty="0"/>
              <a:t>if</a:t>
            </a:r>
            <a:r>
              <a:rPr lang="en-US" spc="-5" dirty="0"/>
              <a:t> </a:t>
            </a:r>
            <a:r>
              <a:rPr lang="en-US" spc="-10" dirty="0"/>
              <a:t>exfiltrate:</a:t>
            </a:r>
            <a:r>
              <a:rPr lang="en-US" spc="-5" dirty="0"/>
              <a:t> </a:t>
            </a:r>
            <a:r>
              <a:rPr lang="en-US" spc="-10" dirty="0"/>
              <a:t>Early</a:t>
            </a:r>
            <a:r>
              <a:rPr lang="en-US" spc="-40" dirty="0"/>
              <a:t> </a:t>
            </a:r>
            <a:r>
              <a:rPr lang="en-US" spc="-20" dirty="0"/>
              <a:t>stage</a:t>
            </a:r>
            <a:r>
              <a:rPr lang="en-US" spc="-30" dirty="0"/>
              <a:t> </a:t>
            </a:r>
            <a:r>
              <a:rPr lang="en-US" spc="-10" dirty="0"/>
              <a:t>Android</a:t>
            </a:r>
            <a:r>
              <a:rPr lang="en-US" spc="-5" dirty="0"/>
              <a:t> </a:t>
            </a:r>
            <a:r>
              <a:rPr lang="en-US" spc="-20" dirty="0"/>
              <a:t>ransomware</a:t>
            </a:r>
            <a:r>
              <a:rPr lang="en-US" spc="-5" dirty="0"/>
              <a:t> </a:t>
            </a:r>
            <a:r>
              <a:rPr lang="en-US" spc="-30" dirty="0"/>
              <a:t>detection.”</a:t>
            </a:r>
            <a:r>
              <a:rPr lang="en-US" spc="-70" dirty="0"/>
              <a:t> </a:t>
            </a:r>
            <a:r>
              <a:rPr lang="en-US" spc="-20" dirty="0"/>
              <a:t>Computers</a:t>
            </a:r>
            <a:r>
              <a:rPr lang="en-US" spc="-10" dirty="0"/>
              <a:t> </a:t>
            </a:r>
            <a:r>
              <a:rPr lang="en-US" spc="90" dirty="0"/>
              <a:t>&amp;</a:t>
            </a:r>
            <a:r>
              <a:rPr lang="en-US" spc="-5" dirty="0"/>
              <a:t> </a:t>
            </a:r>
            <a:r>
              <a:rPr lang="en-US" spc="-30" dirty="0"/>
              <a:t>Security,</a:t>
            </a:r>
            <a:r>
              <a:rPr lang="en-US" spc="-85" dirty="0"/>
              <a:t> </a:t>
            </a:r>
            <a:r>
              <a:rPr lang="en-US" spc="-20" dirty="0"/>
              <a:t>vol.</a:t>
            </a:r>
            <a:r>
              <a:rPr lang="en-US" spc="-70" dirty="0"/>
              <a:t> </a:t>
            </a:r>
            <a:r>
              <a:rPr lang="en-US" spc="-30" dirty="0"/>
              <a:t>141,</a:t>
            </a:r>
            <a:r>
              <a:rPr lang="en-US" spc="-70" dirty="0"/>
              <a:t> </a:t>
            </a:r>
            <a:r>
              <a:rPr lang="en-US" spc="-10" dirty="0"/>
              <a:t>2024. </a:t>
            </a:r>
            <a:r>
              <a:rPr lang="en-US" spc="-10" dirty="0">
                <a:hlinkClick r:id="rId4"/>
              </a:rPr>
              <a:t>https://doi.org/10.1016/j.cose.2024.103819</a:t>
            </a:r>
          </a:p>
          <a:p>
            <a:pPr marL="12700" marR="60960">
              <a:lnSpc>
                <a:spcPct val="107100"/>
              </a:lnSpc>
              <a:spcBef>
                <a:spcPts val="400"/>
              </a:spcBef>
            </a:pPr>
            <a:r>
              <a:rPr lang="en-US" spc="-10" dirty="0"/>
              <a:t>“Lightweight</a:t>
            </a:r>
            <a:r>
              <a:rPr lang="en-US" dirty="0"/>
              <a:t> </a:t>
            </a:r>
            <a:r>
              <a:rPr lang="en-US" spc="-10" dirty="0"/>
              <a:t>and</a:t>
            </a:r>
            <a:r>
              <a:rPr lang="en-US" dirty="0"/>
              <a:t> </a:t>
            </a:r>
            <a:r>
              <a:rPr lang="en-US" spc="-25" dirty="0"/>
              <a:t>Robust </a:t>
            </a:r>
            <a:r>
              <a:rPr lang="en-US" spc="-10" dirty="0"/>
              <a:t>Android</a:t>
            </a:r>
            <a:r>
              <a:rPr lang="en-US" spc="5" dirty="0"/>
              <a:t> </a:t>
            </a:r>
            <a:r>
              <a:rPr lang="en-US" spc="-20" dirty="0"/>
              <a:t>Ransomware</a:t>
            </a:r>
            <a:r>
              <a:rPr lang="en-US" dirty="0"/>
              <a:t> </a:t>
            </a:r>
            <a:r>
              <a:rPr lang="en-US" spc="-10" dirty="0"/>
              <a:t>Detection</a:t>
            </a:r>
            <a:r>
              <a:rPr lang="en-US" dirty="0"/>
              <a:t> Using </a:t>
            </a:r>
            <a:r>
              <a:rPr lang="en-US" spc="-10" dirty="0"/>
              <a:t>Behavioral</a:t>
            </a:r>
            <a:r>
              <a:rPr lang="en-US" spc="-20" dirty="0"/>
              <a:t> </a:t>
            </a:r>
            <a:r>
              <a:rPr lang="en-US" spc="-10" dirty="0"/>
              <a:t>Analysis</a:t>
            </a:r>
            <a:r>
              <a:rPr lang="en-US" dirty="0"/>
              <a:t> </a:t>
            </a:r>
            <a:r>
              <a:rPr lang="en-US" spc="-10" dirty="0"/>
              <a:t>and</a:t>
            </a:r>
            <a:r>
              <a:rPr lang="en-US" dirty="0"/>
              <a:t> </a:t>
            </a:r>
            <a:r>
              <a:rPr lang="en-US" spc="-10" dirty="0"/>
              <a:t>Feature</a:t>
            </a:r>
            <a:r>
              <a:rPr lang="en-US" dirty="0"/>
              <a:t> </a:t>
            </a:r>
            <a:r>
              <a:rPr lang="en-US" spc="-35" dirty="0"/>
              <a:t>Reduction.”</a:t>
            </a:r>
            <a:r>
              <a:rPr lang="en-US" spc="-65" dirty="0"/>
              <a:t> </a:t>
            </a:r>
            <a:r>
              <a:rPr lang="en-US" spc="-30" dirty="0"/>
              <a:t>Computers,</a:t>
            </a:r>
            <a:r>
              <a:rPr lang="en-US" spc="-65" dirty="0"/>
              <a:t> </a:t>
            </a:r>
            <a:r>
              <a:rPr lang="en-US" dirty="0"/>
              <a:t>Materials</a:t>
            </a:r>
            <a:r>
              <a:rPr lang="en-US" spc="5" dirty="0"/>
              <a:t> </a:t>
            </a:r>
            <a:r>
              <a:rPr lang="en-US" spc="-50" dirty="0"/>
              <a:t>&amp;</a:t>
            </a:r>
            <a:r>
              <a:rPr lang="en-US" spc="500" dirty="0"/>
              <a:t> </a:t>
            </a:r>
            <a:r>
              <a:rPr lang="en-US" spc="-25" dirty="0"/>
              <a:t>Continua,</a:t>
            </a:r>
            <a:r>
              <a:rPr lang="en-US" spc="-70" dirty="0"/>
              <a:t> </a:t>
            </a:r>
            <a:r>
              <a:rPr lang="en-US" spc="-20" dirty="0"/>
              <a:t>vol.</a:t>
            </a:r>
            <a:r>
              <a:rPr lang="en-US" spc="-55" dirty="0"/>
              <a:t> </a:t>
            </a:r>
            <a:r>
              <a:rPr lang="en-US" spc="-35" dirty="0"/>
              <a:t>84,</a:t>
            </a:r>
            <a:r>
              <a:rPr lang="en-US" spc="-60" dirty="0"/>
              <a:t> </a:t>
            </a:r>
            <a:r>
              <a:rPr lang="en-US" spc="-35" dirty="0"/>
              <a:t>no.</a:t>
            </a:r>
            <a:r>
              <a:rPr lang="en-US" spc="-55" dirty="0"/>
              <a:t> </a:t>
            </a:r>
            <a:r>
              <a:rPr lang="en-US" spc="-50" dirty="0"/>
              <a:t>3,</a:t>
            </a:r>
            <a:r>
              <a:rPr lang="en-US" spc="-55" dirty="0"/>
              <a:t> </a:t>
            </a:r>
            <a:r>
              <a:rPr lang="en-US" spc="-25" dirty="0"/>
              <a:t>2025.</a:t>
            </a:r>
            <a:r>
              <a:rPr lang="en-US" spc="-55" dirty="0"/>
              <a:t> </a:t>
            </a:r>
            <a:r>
              <a:rPr lang="en-US" spc="-10" dirty="0">
                <a:hlinkClick r:id="rId5"/>
              </a:rPr>
              <a:t>https://doi.org/10.32604/cmc.2025.066198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9293" y="3106721"/>
            <a:ext cx="790575" cy="20069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>
              <a:lnSpc>
                <a:spcPts val="235"/>
              </a:lnSpc>
              <a:spcBef>
                <a:spcPts val="65"/>
              </a:spcBef>
            </a:pPr>
            <a:r>
              <a:rPr sz="500" dirty="0">
                <a:solidFill>
                  <a:srgbClr val="0000DC"/>
                </a:solidFill>
                <a:latin typeface="Tahoma"/>
                <a:cs typeface="Tahoma"/>
              </a:rPr>
              <a:t>ShieldX</a:t>
            </a:r>
            <a:r>
              <a:rPr sz="500" spc="285" dirty="0">
                <a:solidFill>
                  <a:srgbClr val="0000DC"/>
                </a:solidFill>
                <a:latin typeface="Tahoma"/>
                <a:cs typeface="Tahoma"/>
              </a:rPr>
              <a:t>  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A3-</a:t>
            </a:r>
            <a:r>
              <a:rPr sz="5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PS001-</a:t>
            </a:r>
            <a:r>
              <a:rPr sz="5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6" action="ppaction://hlinksldjump"/>
              </a:rPr>
              <a:t>TC001</a:t>
            </a:r>
            <a:endParaRPr sz="500">
              <a:latin typeface="Tahoma"/>
              <a:cs typeface="Tahoma"/>
            </a:endParaRPr>
          </a:p>
          <a:p>
            <a:pPr marL="247015">
              <a:lnSpc>
                <a:spcPts val="1315"/>
              </a:lnSpc>
            </a:pPr>
            <a:endParaRPr sz="1400" spc="-50" dirty="0">
              <a:solidFill>
                <a:srgbClr val="0000DC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166199" y="3106721"/>
            <a:ext cx="756080" cy="198772"/>
          </a:xfrm>
          <a:prstGeom prst="rect">
            <a:avLst/>
          </a:prstGeom>
        </p:spPr>
        <p:txBody>
          <a:bodyPr vert="horz" wrap="square" lIns="0" tIns="6350" rIns="0" bIns="0" rtlCol="0" anchor="t">
            <a:spAutoFit/>
          </a:bodyPr>
          <a:lstStyle/>
          <a:p>
            <a:pPr marL="85090">
              <a:lnSpc>
                <a:spcPts val="245"/>
              </a:lnSpc>
              <a:spcBef>
                <a:spcPts val="50"/>
              </a:spcBef>
            </a:pPr>
            <a:r>
              <a:rPr lang="en-US" spc="-10" dirty="0"/>
              <a:t>October</a:t>
            </a:r>
            <a:r>
              <a:rPr lang="en-US" spc="-5"/>
              <a:t> 14</a:t>
            </a:r>
            <a:r>
              <a:rPr lang="en-US" spc="-35" dirty="0"/>
              <a:t>,</a:t>
            </a:r>
            <a:r>
              <a:rPr lang="en-US" spc="-50" dirty="0"/>
              <a:t> </a:t>
            </a:r>
            <a:r>
              <a:rPr lang="en-US" spc="-20" dirty="0"/>
              <a:t>2026</a:t>
            </a:r>
          </a:p>
          <a:p>
            <a:pPr marL="12700">
              <a:lnSpc>
                <a:spcPts val="1325"/>
              </a:lnSpc>
            </a:pPr>
            <a:endParaRPr lang="en-US" sz="1400" spc="-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10</a:t>
            </a:fld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4532" y="1093321"/>
            <a:ext cx="16103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5" dirty="0">
                <a:latin typeface="Tahoma"/>
                <a:cs typeface="Tahoma"/>
              </a:rPr>
              <a:t>Thank</a:t>
            </a:r>
            <a:r>
              <a:rPr sz="1000" spc="-8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You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for</a:t>
            </a:r>
            <a:r>
              <a:rPr sz="1000" spc="-50" dirty="0">
                <a:latin typeface="Tahoma"/>
                <a:cs typeface="Tahoma"/>
              </a:rPr>
              <a:t> Your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Attention!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A3-PS001-TC001 Android Ransomware-like Activity Early Warning in a Controlled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 Architecture &amp; Design Visual: Flowchart or diagram showing the optimization process.</vt:lpstr>
      <vt:lpstr>Data Flow Diagram Overview of the architecture. Include the flow chart diagram created earlier. Visual: Diagrams or architecture visuals.</vt:lpstr>
      <vt:lpstr>PowerPoint Presentation</vt:lpstr>
      <vt:lpstr>Bibliography 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PS-001_Android_Ransomware_Early_Warning pdf</dc:title>
  <cp:revision>31</cp:revision>
  <dcterms:created xsi:type="dcterms:W3CDTF">2026-10-14T16:16:53Z</dcterms:created>
  <dcterms:modified xsi:type="dcterms:W3CDTF">2026-10-14T16:21:27Z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2026-10-14T00:00:00Z</vt:filetime>
  </property>
  <property fmtid="{D5CDD505-2E9C-101B-9397-08002B2CF9AE}" pid="4" name="Creator">
    <vt:lpwstr>Keynote</vt:lpwstr>
  </property>
  <property fmtid="{D5CDD505-2E9C-101B-9397-08002B2CF9AE}" pid="5" name="LastSaved">
    <vt:filetime>2026-10-14T00:00:00Z</vt:filetime>
  </property>
  <property fmtid="{D5CDD505-2E9C-101B-9397-08002B2CF9AE}" pid="6" name="Producer">
    <vt:lpwstr>macOS Version 26.5.1 (Build 25F80) Quartz PDFContext</vt:lpwstr>
  </property>
</Properties>
</file>